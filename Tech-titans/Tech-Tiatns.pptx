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7" r:id="rId11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Edwardian Script ITC" panose="030303020407070D0804" pitchFamily="66" charset="0"/>
      <p:regular r:id="rId17"/>
    </p:embeddedFont>
    <p:embeddedFont>
      <p:font typeface="Arial Black" panose="020B0A04020102020204" pitchFamily="3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huZuiP2VTJaTRWpPf/Pq2ocbLW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360a1af29_7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360a1af29_7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>
          <a:extLst>
            <a:ext uri="{FF2B5EF4-FFF2-40B4-BE49-F238E27FC236}">
              <a16:creationId xmlns:a16="http://schemas.microsoft.com/office/drawing/2014/main" id="{BE65B248-5770-2313-0213-20D040BB9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>
            <a:extLst>
              <a:ext uri="{FF2B5EF4-FFF2-40B4-BE49-F238E27FC236}">
                <a16:creationId xmlns:a16="http://schemas.microsoft.com/office/drawing/2014/main" id="{F9758061-7D9B-5110-ACB6-65C662DD58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:notes">
            <a:extLst>
              <a:ext uri="{FF2B5EF4-FFF2-40B4-BE49-F238E27FC236}">
                <a16:creationId xmlns:a16="http://schemas.microsoft.com/office/drawing/2014/main" id="{13CE16F5-F15C-41A1-A8C3-97BF3B8D9D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65256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360a1af29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d360a1af29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1BB6C9EF-6CAF-171A-F9DC-6EE16C6BF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360a1af29_0_3:notes">
            <a:extLst>
              <a:ext uri="{FF2B5EF4-FFF2-40B4-BE49-F238E27FC236}">
                <a16:creationId xmlns:a16="http://schemas.microsoft.com/office/drawing/2014/main" id="{70245711-3298-48B6-E595-92F4882CA9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d360a1af29_0_3:notes">
            <a:extLst>
              <a:ext uri="{FF2B5EF4-FFF2-40B4-BE49-F238E27FC236}">
                <a16:creationId xmlns:a16="http://schemas.microsoft.com/office/drawing/2014/main" id="{0A219280-CF9F-8F29-B801-CC30E5A41C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5496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Google Shape;30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Google Shape;3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Google Shape;4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roject-exam-guard-ai.netlify.app/" TargetMode="Externa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795867" y="2990907"/>
            <a:ext cx="10812000" cy="28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Details</a:t>
            </a:r>
            <a:br>
              <a:rPr lang="en-IN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Team name: CIS (Tech Titans)</a:t>
            </a:r>
            <a:br>
              <a:rPr lang="en-IN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Team leader name: SHAIK ABDUL RAZAK</a:t>
            </a:r>
            <a:br>
              <a:rPr lang="en-IN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c.Team Member</a:t>
            </a:r>
            <a:r>
              <a:rPr lang="en-IN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Names:K.Ramyasri, P.Rajesh, Suraj Bhan</a:t>
            </a:r>
            <a:br>
              <a:rPr lang="en-IN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College Name: Chaitanya Deemed to be university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514169" y="282585"/>
            <a:ext cx="9389806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HACKXTREME</a:t>
            </a: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58563" cy="1347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 r="81129"/>
          <a:stretch/>
        </p:blipFill>
        <p:spPr>
          <a:xfrm>
            <a:off x="10242855" y="58201"/>
            <a:ext cx="1949145" cy="103422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452284" y="1707298"/>
            <a:ext cx="931862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Organized by GDG X GLEC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42007" y="6081960"/>
            <a:ext cx="12014200" cy="40011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AFAFAF"/>
              </a:gs>
              <a:gs pos="50000">
                <a:schemeClr val="accent3"/>
              </a:gs>
              <a:gs pos="100000">
                <a:srgbClr val="919191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13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7649496" y="3505534"/>
            <a:ext cx="3949837" cy="2064049"/>
          </a:xfrm>
          <a:prstGeom prst="roundRect">
            <a:avLst>
              <a:gd name="adj" fmla="val 26931"/>
            </a:avLst>
          </a:prstGeom>
          <a:solidFill>
            <a:srgbClr val="D8D8D8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$10B Global online education market is increasing rapidly</a:t>
            </a: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15-20 % students are flagged falsely</a:t>
            </a: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50M Students appear online exams every year with no fair</a:t>
            </a:r>
          </a:p>
        </p:txBody>
      </p:sp>
      <p:sp>
        <p:nvSpPr>
          <p:cNvPr id="95" name="Google Shape;95;p2"/>
          <p:cNvSpPr/>
          <p:nvPr/>
        </p:nvSpPr>
        <p:spPr>
          <a:xfrm>
            <a:off x="7924516" y="2709667"/>
            <a:ext cx="2764504" cy="479424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Capital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465666" y="3507018"/>
            <a:ext cx="5243375" cy="2064049"/>
          </a:xfrm>
          <a:prstGeom prst="roundRect">
            <a:avLst>
              <a:gd name="adj" fmla="val 26931"/>
            </a:avLst>
          </a:prstGeom>
          <a:solidFill>
            <a:srgbClr val="D8D8D8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465667" y="2718181"/>
            <a:ext cx="6045200" cy="479424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465667" y="1472949"/>
            <a:ext cx="11654538" cy="601133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58563" cy="134701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/>
          <p:nvPr/>
        </p:nvSpPr>
        <p:spPr>
          <a:xfrm>
            <a:off x="1553496" y="395436"/>
            <a:ext cx="6096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Problem Statement</a:t>
            </a:r>
            <a:endParaRPr/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4">
            <a:alphaModFix/>
          </a:blip>
          <a:srcRect r="81129"/>
          <a:stretch/>
        </p:blipFill>
        <p:spPr>
          <a:xfrm>
            <a:off x="10242855" y="58201"/>
            <a:ext cx="1949145" cy="103422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589548" y="1558073"/>
            <a:ext cx="1153065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Online examinations are increasing rapidly, but ensuring fairness in remote environments is difficult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619674" y="2766718"/>
            <a:ext cx="597535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Existing proctoring systems have major limitations: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729281" y="3721951"/>
            <a:ext cx="4979761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Binary cheating detection (Yes/No)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false accusations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Privacy-invasive webcam monitoring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detect intelligent cheating behavior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behavioral understanding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2"/>
          <p:cNvCxnSpPr>
            <a:cxnSpLocks/>
            <a:stCxn id="98" idx="2"/>
          </p:cNvCxnSpPr>
          <p:nvPr/>
        </p:nvCxnSpPr>
        <p:spPr>
          <a:xfrm rot="-5400000" flipH="1">
            <a:off x="7429036" y="937982"/>
            <a:ext cx="692700" cy="29649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8" name="Google Shape;108;p2"/>
          <p:cNvCxnSpPr>
            <a:stCxn id="98" idx="2"/>
            <a:endCxn id="97" idx="0"/>
          </p:cNvCxnSpPr>
          <p:nvPr/>
        </p:nvCxnSpPr>
        <p:spPr>
          <a:xfrm rot="5400000">
            <a:off x="4568536" y="993782"/>
            <a:ext cx="644100" cy="28047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9" name="Google Shape;109;p2"/>
          <p:cNvCxnSpPr>
            <a:stCxn id="103" idx="2"/>
            <a:endCxn id="96" idx="1"/>
          </p:cNvCxnSpPr>
          <p:nvPr/>
        </p:nvCxnSpPr>
        <p:spPr>
          <a:xfrm rot="5400000">
            <a:off x="1365901" y="2297455"/>
            <a:ext cx="1341300" cy="3141600"/>
          </a:xfrm>
          <a:prstGeom prst="bentConnector4">
            <a:avLst>
              <a:gd name="adj1" fmla="val 11534"/>
              <a:gd name="adj2" fmla="val 10727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0" name="Google Shape;110;p2"/>
          <p:cNvCxnSpPr>
            <a:cxnSpLocks/>
            <a:stCxn id="95" idx="2"/>
            <a:endCxn id="94" idx="1"/>
          </p:cNvCxnSpPr>
          <p:nvPr/>
        </p:nvCxnSpPr>
        <p:spPr>
          <a:xfrm rot="5400000">
            <a:off x="7803898" y="3034689"/>
            <a:ext cx="1348468" cy="1657272"/>
          </a:xfrm>
          <a:prstGeom prst="bentConnector4">
            <a:avLst>
              <a:gd name="adj1" fmla="val 11733"/>
              <a:gd name="adj2" fmla="val 113794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1" name="Google Shape;111;p2"/>
          <p:cNvSpPr txBox="1"/>
          <p:nvPr/>
        </p:nvSpPr>
        <p:spPr>
          <a:xfrm>
            <a:off x="42007" y="6093929"/>
            <a:ext cx="121499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u="sng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Note:</a:t>
            </a:r>
            <a:r>
              <a:rPr lang="en-IN" sz="20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 There is a need for </a:t>
            </a:r>
            <a:r>
              <a:rPr lang="en-IN" sz="2000" b="1" u="sng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Ai- based intelligent system </a:t>
            </a:r>
            <a:r>
              <a:rPr lang="en-IN" sz="20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that predicts cheating risk instead of only detecting cheating.</a:t>
            </a:r>
            <a:endParaRPr sz="20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5E92A012-5B72-BB5C-0BD2-D408BA9BD84A}"/>
              </a:ext>
            </a:extLst>
          </p:cNvPr>
          <p:cNvCxnSpPr>
            <a:stCxn id="2" idx="2"/>
            <a:endCxn id="33" idx="1"/>
          </p:cNvCxnSpPr>
          <p:nvPr/>
        </p:nvCxnSpPr>
        <p:spPr>
          <a:xfrm rot="16200000" flipH="1">
            <a:off x="4765131" y="3792478"/>
            <a:ext cx="3107387" cy="14702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DD246679-3413-D59F-FAC7-C9CCD8BFA438}"/>
              </a:ext>
            </a:extLst>
          </p:cNvPr>
          <p:cNvCxnSpPr>
            <a:cxnSpLocks/>
            <a:stCxn id="2" idx="2"/>
            <a:endCxn id="6" idx="1"/>
          </p:cNvCxnSpPr>
          <p:nvPr/>
        </p:nvCxnSpPr>
        <p:spPr>
          <a:xfrm rot="16200000" flipH="1">
            <a:off x="5256214" y="3301395"/>
            <a:ext cx="2125221" cy="14702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6" name="Google Shape;11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58563" cy="134701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 txBox="1"/>
          <p:nvPr/>
        </p:nvSpPr>
        <p:spPr>
          <a:xfrm>
            <a:off x="1458563" y="261429"/>
            <a:ext cx="7084304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Proposed Solution</a:t>
            </a:r>
            <a:endParaRPr/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4">
            <a:alphaModFix/>
          </a:blip>
          <a:srcRect r="81129"/>
          <a:stretch/>
        </p:blipFill>
        <p:spPr>
          <a:xfrm>
            <a:off x="10242855" y="58201"/>
            <a:ext cx="1949145" cy="10342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98A22C4-3FB6-28F4-D275-07145E7B1CDA}"/>
              </a:ext>
            </a:extLst>
          </p:cNvPr>
          <p:cNvSpPr/>
          <p:nvPr/>
        </p:nvSpPr>
        <p:spPr>
          <a:xfrm>
            <a:off x="1052162" y="1278072"/>
            <a:ext cx="10386304" cy="1034224"/>
          </a:xfrm>
          <a:prstGeom prst="roundRect">
            <a:avLst>
              <a:gd name="adj" fmla="val 39589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propose an </a:t>
            </a: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AI-Based Online Exam Cheating Risk Predictor</a:t>
            </a:r>
            <a:endParaRPr lang="en-US" sz="2800" dirty="0"/>
          </a:p>
          <a:p>
            <a:pPr lvl="0"/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cognitive–behavioral probability-based proctoring framework that:</a:t>
            </a:r>
            <a:endParaRPr lang="en-US" sz="28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84B6A92-6330-A302-AD1D-DBC88B68EE42}"/>
              </a:ext>
            </a:extLst>
          </p:cNvPr>
          <p:cNvSpPr/>
          <p:nvPr/>
        </p:nvSpPr>
        <p:spPr>
          <a:xfrm>
            <a:off x="2068163" y="2605435"/>
            <a:ext cx="5433304" cy="610390"/>
          </a:xfrm>
          <a:prstGeom prst="roundRect">
            <a:avLst>
              <a:gd name="adj" fmla="val 39589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lvl="1" indent="-228600">
              <a:lnSpc>
                <a:spcPct val="90000"/>
              </a:lnSpc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Tracks student behavior in real time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8B6F520-1320-E2C7-520D-444D8E018E35}"/>
              </a:ext>
            </a:extLst>
          </p:cNvPr>
          <p:cNvSpPr/>
          <p:nvPr/>
        </p:nvSpPr>
        <p:spPr>
          <a:xfrm>
            <a:off x="2068163" y="3360411"/>
            <a:ext cx="8252704" cy="610390"/>
          </a:xfrm>
          <a:prstGeom prst="roundRect">
            <a:avLst>
              <a:gd name="adj" fmla="val 39589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lvl="1" indent="-228600">
              <a:lnSpc>
                <a:spcPct val="90000"/>
              </a:lnSpc>
              <a:spcBef>
                <a:spcPts val="390"/>
              </a:spcBef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Analyzes gaze, posture, typing, mouse pointer and interaction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85F08F0-5A67-D65A-9A5D-04175A941345}"/>
              </a:ext>
            </a:extLst>
          </p:cNvPr>
          <p:cNvSpPr/>
          <p:nvPr/>
        </p:nvSpPr>
        <p:spPr>
          <a:xfrm>
            <a:off x="2068163" y="4132322"/>
            <a:ext cx="4036304" cy="610390"/>
          </a:xfrm>
          <a:prstGeom prst="roundRect">
            <a:avLst>
              <a:gd name="adj" fmla="val 39589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lvl="1" indent="-228600">
              <a:lnSpc>
                <a:spcPct val="90000"/>
              </a:lnSpc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AI to detect anomalies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ED3A443-715B-8515-DE5C-DD1DBC80B0EA}"/>
              </a:ext>
            </a:extLst>
          </p:cNvPr>
          <p:cNvSpPr/>
          <p:nvPr/>
        </p:nvSpPr>
        <p:spPr>
          <a:xfrm>
            <a:off x="6392335" y="4132322"/>
            <a:ext cx="5687304" cy="610390"/>
          </a:xfrm>
          <a:prstGeom prst="roundRect">
            <a:avLst>
              <a:gd name="adj" fmla="val 39589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lvl="1" indent="-228600">
              <a:lnSpc>
                <a:spcPct val="90000"/>
              </a:lnSpc>
              <a:spcBef>
                <a:spcPts val="390"/>
              </a:spcBef>
              <a:buClr>
                <a:schemeClr val="dk1"/>
              </a:buClr>
              <a:buSzPts val="2600"/>
              <a:buFont typeface="Arial"/>
              <a:buChar char="•"/>
            </a:pP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Generates cheating probability (0–100%)</a:t>
            </a:r>
            <a:endParaRPr lang="en-IN" sz="2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A61F0A-477A-615D-A1B0-3981480A3B6E}"/>
              </a:ext>
            </a:extLst>
          </p:cNvPr>
          <p:cNvSpPr/>
          <p:nvPr/>
        </p:nvSpPr>
        <p:spPr>
          <a:xfrm>
            <a:off x="1805697" y="6096021"/>
            <a:ext cx="6076770" cy="610390"/>
          </a:xfrm>
          <a:prstGeom prst="roundRect">
            <a:avLst>
              <a:gd name="adj" fmla="val 39589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lvl="1" indent="-228600">
              <a:lnSpc>
                <a:spcPct val="90000"/>
              </a:lnSpc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explainable and ethical monitoring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35CC2A-A261-CAB3-3243-FD94A77729FB}"/>
              </a:ext>
            </a:extLst>
          </p:cNvPr>
          <p:cNvSpPr/>
          <p:nvPr/>
        </p:nvSpPr>
        <p:spPr>
          <a:xfrm>
            <a:off x="2051706" y="4919067"/>
            <a:ext cx="3815694" cy="610390"/>
          </a:xfrm>
          <a:prstGeom prst="roundRect">
            <a:avLst>
              <a:gd name="adj" fmla="val 39589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lvl="1" indent="-228600">
              <a:lnSpc>
                <a:spcPct val="90000"/>
              </a:lnSpc>
              <a:spcBef>
                <a:spcPts val="390"/>
              </a:spcBef>
              <a:buClr>
                <a:schemeClr val="dk1"/>
              </a:buClr>
              <a:buSzPts val="2600"/>
              <a:buFont typeface="Arial"/>
              <a:buChar char="•"/>
            </a:pP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Reduces false accusations</a:t>
            </a:r>
            <a:endParaRPr lang="en-IN" sz="2400" dirty="0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EC522F73-6E90-5242-EE52-F5B60B8872F5}"/>
              </a:ext>
            </a:extLst>
          </p:cNvPr>
          <p:cNvCxnSpPr>
            <a:stCxn id="2" idx="2"/>
            <a:endCxn id="3" idx="1"/>
          </p:cNvCxnSpPr>
          <p:nvPr/>
        </p:nvCxnSpPr>
        <p:spPr>
          <a:xfrm rot="5400000">
            <a:off x="3857572" y="522888"/>
            <a:ext cx="598334" cy="4177151"/>
          </a:xfrm>
          <a:prstGeom prst="bentConnector4">
            <a:avLst>
              <a:gd name="adj1" fmla="val 24496"/>
              <a:gd name="adj2" fmla="val 10547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876E4B38-DC7F-0E9F-EA17-4FAD0C3C5AA3}"/>
              </a:ext>
            </a:extLst>
          </p:cNvPr>
          <p:cNvCxnSpPr>
            <a:cxnSpLocks/>
            <a:stCxn id="2" idx="2"/>
            <a:endCxn id="4" idx="1"/>
          </p:cNvCxnSpPr>
          <p:nvPr/>
        </p:nvCxnSpPr>
        <p:spPr>
          <a:xfrm rot="5400000">
            <a:off x="3480084" y="900376"/>
            <a:ext cx="1353310" cy="4177151"/>
          </a:xfrm>
          <a:prstGeom prst="bentConnector4">
            <a:avLst>
              <a:gd name="adj1" fmla="val 11196"/>
              <a:gd name="adj2" fmla="val 10547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BB6A93C-311A-55B6-373D-F4EEE77603B5}"/>
              </a:ext>
            </a:extLst>
          </p:cNvPr>
          <p:cNvCxnSpPr>
            <a:stCxn id="4" idx="1"/>
            <a:endCxn id="5" idx="1"/>
          </p:cNvCxnSpPr>
          <p:nvPr/>
        </p:nvCxnSpPr>
        <p:spPr>
          <a:xfrm rot="10800000" flipV="1">
            <a:off x="2068163" y="3665605"/>
            <a:ext cx="12700" cy="771911"/>
          </a:xfrm>
          <a:prstGeom prst="bentConnector3">
            <a:avLst>
              <a:gd name="adj1" fmla="val 186666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7D39FC75-3075-9BBD-BA4D-98B4E7A20B01}"/>
              </a:ext>
            </a:extLst>
          </p:cNvPr>
          <p:cNvCxnSpPr>
            <a:stCxn id="5" idx="1"/>
            <a:endCxn id="8" idx="1"/>
          </p:cNvCxnSpPr>
          <p:nvPr/>
        </p:nvCxnSpPr>
        <p:spPr>
          <a:xfrm rot="10800000" flipV="1">
            <a:off x="2051707" y="4437516"/>
            <a:ext cx="16457" cy="786745"/>
          </a:xfrm>
          <a:prstGeom prst="bentConnector3">
            <a:avLst>
              <a:gd name="adj1" fmla="val 133473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4D4933C7-448D-8692-9874-517D3021DD1C}"/>
              </a:ext>
            </a:extLst>
          </p:cNvPr>
          <p:cNvCxnSpPr>
            <a:stCxn id="8" idx="1"/>
            <a:endCxn id="7" idx="1"/>
          </p:cNvCxnSpPr>
          <p:nvPr/>
        </p:nvCxnSpPr>
        <p:spPr>
          <a:xfrm rot="10800000" flipV="1">
            <a:off x="1805698" y="5224262"/>
            <a:ext cx="246009" cy="1176954"/>
          </a:xfrm>
          <a:prstGeom prst="bentConnector3">
            <a:avLst>
              <a:gd name="adj1" fmla="val 19292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9A659C7-ECE5-8114-7A1D-53A7F8155D9A}"/>
              </a:ext>
            </a:extLst>
          </p:cNvPr>
          <p:cNvSpPr/>
          <p:nvPr/>
        </p:nvSpPr>
        <p:spPr>
          <a:xfrm>
            <a:off x="6392335" y="4904232"/>
            <a:ext cx="5023108" cy="1030901"/>
          </a:xfrm>
          <a:prstGeom prst="roundRect">
            <a:avLst>
              <a:gd name="adj" fmla="val 21521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lvl="1" indent="-228600">
              <a:lnSpc>
                <a:spcPct val="90000"/>
              </a:lnSpc>
              <a:spcBef>
                <a:spcPts val="390"/>
              </a:spcBef>
              <a:buClr>
                <a:schemeClr val="dk1"/>
              </a:buClr>
              <a:buSzPts val="2600"/>
              <a:buFont typeface="Arial"/>
              <a:buChar char="•"/>
            </a:pP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finalizing the result a mail will directly send with the quote to the student</a:t>
            </a:r>
            <a:endParaRPr lang="en-IN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17BC328-FA32-9065-CEDC-6EDD19CE87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3457"/>
          <a:stretch>
            <a:fillRect/>
          </a:stretch>
        </p:blipFill>
        <p:spPr>
          <a:xfrm>
            <a:off x="313152" y="1335800"/>
            <a:ext cx="11159067" cy="5522200"/>
          </a:xfrm>
          <a:prstGeom prst="rect">
            <a:avLst/>
          </a:prstGeom>
        </p:spPr>
      </p:pic>
      <p:sp>
        <p:nvSpPr>
          <p:cNvPr id="138" name="Google Shape;138;g3d360a1af29_7_17"/>
          <p:cNvSpPr txBox="1"/>
          <p:nvPr/>
        </p:nvSpPr>
        <p:spPr>
          <a:xfrm>
            <a:off x="1722300" y="412400"/>
            <a:ext cx="10469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800" b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Working flow diagram</a:t>
            </a:r>
            <a:endParaRPr sz="4800" b="1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39" name="Google Shape;139;g3d360a1af29_7_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200588"/>
            <a:ext cx="1458562" cy="1347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d360a1af29_7_17"/>
          <p:cNvPicPr preferRelativeResize="0"/>
          <p:nvPr/>
        </p:nvPicPr>
        <p:blipFill rotWithShape="1">
          <a:blip r:embed="rId5">
            <a:alphaModFix/>
          </a:blip>
          <a:srcRect r="81129"/>
          <a:stretch/>
        </p:blipFill>
        <p:spPr>
          <a:xfrm>
            <a:off x="9929705" y="513376"/>
            <a:ext cx="1949143" cy="1034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58563" cy="1347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4"/>
          <p:cNvPicPr preferRelativeResize="0"/>
          <p:nvPr/>
        </p:nvPicPr>
        <p:blipFill rotWithShape="1">
          <a:blip r:embed="rId4">
            <a:alphaModFix/>
          </a:blip>
          <a:srcRect r="81129"/>
          <a:stretch/>
        </p:blipFill>
        <p:spPr>
          <a:xfrm>
            <a:off x="10242855" y="58201"/>
            <a:ext cx="1949145" cy="10342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66FF13-AD2C-EA1E-F2AB-869FCC459506}"/>
              </a:ext>
            </a:extLst>
          </p:cNvPr>
          <p:cNvSpPr txBox="1"/>
          <p:nvPr/>
        </p:nvSpPr>
        <p:spPr>
          <a:xfrm>
            <a:off x="2133600" y="384539"/>
            <a:ext cx="4916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Opportunity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D5BD23F-5D13-5D20-30E8-AE158A593668}"/>
              </a:ext>
            </a:extLst>
          </p:cNvPr>
          <p:cNvSpPr/>
          <p:nvPr/>
        </p:nvSpPr>
        <p:spPr>
          <a:xfrm>
            <a:off x="1458563" y="1347019"/>
            <a:ext cx="6595534" cy="516467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 Billion Dollar Problem. A Scalable Solution.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0CB6768-C9F3-2813-19B2-10C79DC64114}"/>
              </a:ext>
            </a:extLst>
          </p:cNvPr>
          <p:cNvSpPr/>
          <p:nvPr/>
        </p:nvSpPr>
        <p:spPr>
          <a:xfrm>
            <a:off x="1458563" y="2011653"/>
            <a:ext cx="7930970" cy="516467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$1.6 Billion</a:t>
            </a:r>
            <a:r>
              <a:rPr lang="en-US" sz="2400" dirty="0">
                <a:solidFill>
                  <a:schemeClr val="tx1"/>
                </a:solidFill>
              </a:rPr>
              <a:t> — Global online proctoring market in 2024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799DC2C-F27C-4B1E-8916-8464E5620420}"/>
              </a:ext>
            </a:extLst>
          </p:cNvPr>
          <p:cNvSpPr/>
          <p:nvPr/>
        </p:nvSpPr>
        <p:spPr>
          <a:xfrm>
            <a:off x="1458563" y="2604022"/>
            <a:ext cx="6595534" cy="516467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$6.5 Billion</a:t>
            </a:r>
            <a:r>
              <a:rPr lang="en-US" sz="2400" dirty="0">
                <a:solidFill>
                  <a:schemeClr val="tx1"/>
                </a:solidFill>
              </a:rPr>
              <a:t> — Projected market size by 2030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959A6AD-8463-2114-2166-AC9A9839D715}"/>
              </a:ext>
            </a:extLst>
          </p:cNvPr>
          <p:cNvSpPr/>
          <p:nvPr/>
        </p:nvSpPr>
        <p:spPr>
          <a:xfrm>
            <a:off x="1458562" y="3180349"/>
            <a:ext cx="2580037" cy="557163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</a:rPr>
              <a:t>26% CAGR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009716A-3155-566E-436E-8CAE952C2D67}"/>
              </a:ext>
            </a:extLst>
          </p:cNvPr>
          <p:cNvSpPr/>
          <p:nvPr/>
        </p:nvSpPr>
        <p:spPr>
          <a:xfrm>
            <a:off x="694267" y="6189134"/>
            <a:ext cx="10803466" cy="516467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u="sng" dirty="0">
                <a:solidFill>
                  <a:schemeClr val="tx1"/>
                </a:solidFill>
              </a:rPr>
              <a:t>Note:- Instead of having a reactive solution we have predictive solution</a:t>
            </a:r>
            <a:endParaRPr lang="en-IN" sz="2400" b="1" i="1" u="sng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2E8715F-9AD2-9440-EA89-EB5552BB8AD1}"/>
              </a:ext>
            </a:extLst>
          </p:cNvPr>
          <p:cNvSpPr/>
          <p:nvPr/>
        </p:nvSpPr>
        <p:spPr>
          <a:xfrm>
            <a:off x="1549400" y="4064000"/>
            <a:ext cx="6350000" cy="193040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u="sng" dirty="0">
                <a:solidFill>
                  <a:schemeClr val="tx1"/>
                </a:solidFill>
              </a:rPr>
              <a:t>Our 3 Unfair Advantages: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Advantage 1 — Probability Over Binary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Advantage 2 — Ethical AI First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chemeClr val="tx1"/>
                </a:solidFill>
              </a:rPr>
              <a:t>Advantage 3 — India First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58563" cy="134701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 txBox="1"/>
          <p:nvPr/>
        </p:nvSpPr>
        <p:spPr>
          <a:xfrm>
            <a:off x="1458563" y="238121"/>
            <a:ext cx="878429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Technologies/Tools Used</a:t>
            </a:r>
            <a:endParaRPr/>
          </a:p>
        </p:txBody>
      </p:sp>
      <p:pic>
        <p:nvPicPr>
          <p:cNvPr id="158" name="Google Shape;158;p5"/>
          <p:cNvPicPr preferRelativeResize="0"/>
          <p:nvPr/>
        </p:nvPicPr>
        <p:blipFill rotWithShape="1">
          <a:blip r:embed="rId4">
            <a:alphaModFix/>
          </a:blip>
          <a:srcRect r="81129"/>
          <a:stretch/>
        </p:blipFill>
        <p:spPr>
          <a:xfrm>
            <a:off x="10242855" y="156397"/>
            <a:ext cx="1949145" cy="103422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5"/>
          <p:cNvSpPr/>
          <p:nvPr/>
        </p:nvSpPr>
        <p:spPr>
          <a:xfrm>
            <a:off x="4030133" y="5681133"/>
            <a:ext cx="1591734" cy="4474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030133" y="6239933"/>
            <a:ext cx="1624532" cy="5334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1524001" y="1386704"/>
            <a:ext cx="2319866" cy="506698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Tech Stack </a:t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6768549" y="1169151"/>
            <a:ext cx="2493983" cy="447600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Working product</a:t>
            </a:r>
            <a:endParaRPr dirty="0"/>
          </a:p>
        </p:txBody>
      </p:sp>
      <p:pic>
        <p:nvPicPr>
          <p:cNvPr id="165" name="Google Shape;165;p5" title="Screenshot 2026-03-30 1414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50764" y="4048907"/>
            <a:ext cx="2861026" cy="272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7888CD-0034-BE76-016B-A803B05E787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7227"/>
          <a:stretch>
            <a:fillRect/>
          </a:stretch>
        </p:blipFill>
        <p:spPr>
          <a:xfrm>
            <a:off x="121088" y="2362100"/>
            <a:ext cx="6074907" cy="4155734"/>
          </a:xfrm>
          <a:prstGeom prst="rect">
            <a:avLst/>
          </a:prstGeom>
        </p:spPr>
      </p:pic>
      <p:pic>
        <p:nvPicPr>
          <p:cNvPr id="166" name="Google Shape;166;p5" title="Screenshot 2026-03-30 150421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30929" y="4048908"/>
            <a:ext cx="2684901" cy="272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AAE49A-DEDA-6E9A-8AF6-37E8F3305E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1716784"/>
            <a:ext cx="5572804" cy="22106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F83BA9F7-48D2-FEE6-5F1E-4CE334D8D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5975D6-A43D-3AF7-0585-AA71EF2896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1852"/>
          <a:stretch>
            <a:fillRect/>
          </a:stretch>
        </p:blipFill>
        <p:spPr>
          <a:xfrm>
            <a:off x="0" y="1150801"/>
            <a:ext cx="12192000" cy="5359400"/>
          </a:xfrm>
          <a:prstGeom prst="rect">
            <a:avLst/>
          </a:prstGeom>
        </p:spPr>
      </p:pic>
      <p:pic>
        <p:nvPicPr>
          <p:cNvPr id="156" name="Google Shape;156;p5">
            <a:extLst>
              <a:ext uri="{FF2B5EF4-FFF2-40B4-BE49-F238E27FC236}">
                <a16:creationId xmlns:a16="http://schemas.microsoft.com/office/drawing/2014/main" id="{469F5667-74D7-1FFB-C082-3541AE3B852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458563" cy="134701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>
            <a:extLst>
              <a:ext uri="{FF2B5EF4-FFF2-40B4-BE49-F238E27FC236}">
                <a16:creationId xmlns:a16="http://schemas.microsoft.com/office/drawing/2014/main" id="{AC3F0499-DA12-A707-CBF2-229372EAB0CB}"/>
              </a:ext>
            </a:extLst>
          </p:cNvPr>
          <p:cNvSpPr txBox="1"/>
          <p:nvPr/>
        </p:nvSpPr>
        <p:spPr>
          <a:xfrm>
            <a:off x="1458563" y="238121"/>
            <a:ext cx="8784292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800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Architecture Diagram</a:t>
            </a:r>
            <a:endParaRPr lang="en-IN" dirty="0"/>
          </a:p>
        </p:txBody>
      </p:sp>
      <p:pic>
        <p:nvPicPr>
          <p:cNvPr id="158" name="Google Shape;158;p5">
            <a:extLst>
              <a:ext uri="{FF2B5EF4-FFF2-40B4-BE49-F238E27FC236}">
                <a16:creationId xmlns:a16="http://schemas.microsoft.com/office/drawing/2014/main" id="{0DF590E2-09CA-285F-8BFA-9495A0871D1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r="81129"/>
          <a:stretch/>
        </p:blipFill>
        <p:spPr>
          <a:xfrm>
            <a:off x="10242855" y="156397"/>
            <a:ext cx="1949145" cy="10342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749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g3d360a1af29_0_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58562" cy="1347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d360a1af29_0_3"/>
          <p:cNvPicPr preferRelativeResize="0"/>
          <p:nvPr/>
        </p:nvPicPr>
        <p:blipFill rotWithShape="1">
          <a:blip r:embed="rId4">
            <a:alphaModFix/>
          </a:blip>
          <a:srcRect r="81129"/>
          <a:stretch/>
        </p:blipFill>
        <p:spPr>
          <a:xfrm>
            <a:off x="9553668" y="156397"/>
            <a:ext cx="1949143" cy="103422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d360a1af29_0_3"/>
          <p:cNvSpPr/>
          <p:nvPr/>
        </p:nvSpPr>
        <p:spPr>
          <a:xfrm>
            <a:off x="4030133" y="5681133"/>
            <a:ext cx="1591800" cy="4473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d360a1af29_0_3"/>
          <p:cNvSpPr/>
          <p:nvPr/>
        </p:nvSpPr>
        <p:spPr>
          <a:xfrm>
            <a:off x="4030133" y="6239933"/>
            <a:ext cx="1624500" cy="5334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d360a1af29_0_3"/>
          <p:cNvSpPr/>
          <p:nvPr/>
        </p:nvSpPr>
        <p:spPr>
          <a:xfrm>
            <a:off x="2445607" y="230409"/>
            <a:ext cx="6121015" cy="8862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500" b="1" dirty="0">
                <a:latin typeface="Calibri"/>
                <a:ea typeface="Calibri"/>
                <a:cs typeface="Calibri"/>
                <a:sym typeface="Calibri"/>
              </a:rPr>
              <a:t>Working Product</a:t>
            </a:r>
            <a:endParaRPr sz="5500" b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g3d360a1af29_0_3" title="WhatsApp Image 2026-03-30 at 3.15.57 PM (1)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7232" y="1493739"/>
            <a:ext cx="5329882" cy="2588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9A17B5-69D6-67F8-78B8-2B1B90905D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893" y="4309264"/>
            <a:ext cx="5536652" cy="25309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478320-2C85-9333-CB39-88BB9E7746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893" y="1493739"/>
            <a:ext cx="5536652" cy="258805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280" y="4309264"/>
            <a:ext cx="5306834" cy="25309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58563" cy="134701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6"/>
          <p:cNvSpPr txBox="1"/>
          <p:nvPr/>
        </p:nvSpPr>
        <p:spPr>
          <a:xfrm>
            <a:off x="1458563" y="179127"/>
            <a:ext cx="972071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Target Audience/Market</a:t>
            </a:r>
            <a:endParaRPr/>
          </a:p>
        </p:txBody>
      </p:sp>
      <p:pic>
        <p:nvPicPr>
          <p:cNvPr id="185" name="Google Shape;185;p6"/>
          <p:cNvPicPr preferRelativeResize="0"/>
          <p:nvPr/>
        </p:nvPicPr>
        <p:blipFill rotWithShape="1">
          <a:blip r:embed="rId4">
            <a:alphaModFix/>
          </a:blip>
          <a:srcRect r="81129"/>
          <a:stretch/>
        </p:blipFill>
        <p:spPr>
          <a:xfrm>
            <a:off x="10242855" y="58201"/>
            <a:ext cx="1949145" cy="10342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45CE009-4C09-4946-6213-109330B98BF2}"/>
              </a:ext>
            </a:extLst>
          </p:cNvPr>
          <p:cNvSpPr/>
          <p:nvPr/>
        </p:nvSpPr>
        <p:spPr>
          <a:xfrm>
            <a:off x="643467" y="1526146"/>
            <a:ext cx="4284134" cy="244686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1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 Users:</a:t>
            </a:r>
            <a:endParaRPr lang="en-US" dirty="0"/>
          </a:p>
          <a:p>
            <a:pPr marL="742950" lvl="1" indent="-285750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Online learning platforms</a:t>
            </a:r>
            <a:endParaRPr lang="en-US" dirty="0"/>
          </a:p>
          <a:p>
            <a:pPr marL="742950" lvl="1" indent="-285750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Certification platforms</a:t>
            </a:r>
            <a:endParaRPr lang="en-US" dirty="0"/>
          </a:p>
          <a:p>
            <a:pPr marL="742950" lvl="1" indent="-285750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Government exams</a:t>
            </a:r>
            <a:endParaRPr lang="en-US" dirty="0"/>
          </a:p>
          <a:p>
            <a:pPr marL="742950" lvl="1" indent="-285750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EdTech companies </a:t>
            </a:r>
          </a:p>
          <a:p>
            <a:pPr marL="742950" lvl="1" indent="-285750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Colleges &amp; University</a:t>
            </a:r>
            <a:endParaRPr lang="en-US" dirty="0"/>
          </a:p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BBF2D25-BFE4-06BD-7F95-A031C08EA4A0}"/>
              </a:ext>
            </a:extLst>
          </p:cNvPr>
          <p:cNvSpPr/>
          <p:nvPr/>
        </p:nvSpPr>
        <p:spPr>
          <a:xfrm>
            <a:off x="4927601" y="3608864"/>
            <a:ext cx="4284134" cy="244686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2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solution can be used in:</a:t>
            </a:r>
            <a:endParaRPr lang="en-US" dirty="0"/>
          </a:p>
          <a:p>
            <a:pPr marL="742950" lvl="1" indent="-285750"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NPTEL</a:t>
            </a:r>
            <a:endParaRPr lang="en-US" dirty="0"/>
          </a:p>
          <a:p>
            <a:pPr marL="742950" lvl="1" indent="-285750"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Coursera,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edx</a:t>
            </a:r>
            <a:endParaRPr lang="en-US" dirty="0"/>
          </a:p>
          <a:p>
            <a:pPr marL="742950" lvl="1" indent="-285750"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College LMS</a:t>
            </a:r>
            <a:endParaRPr lang="en-US" dirty="0"/>
          </a:p>
          <a:p>
            <a:pPr marL="742950" lvl="1" indent="-285750"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Competitive exams</a:t>
            </a:r>
            <a:endParaRPr lang="en-US" dirty="0"/>
          </a:p>
          <a:p>
            <a:pPr marL="742950" lvl="1" indent="-285750"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Company assessments </a:t>
            </a:r>
          </a:p>
          <a:p>
            <a:pPr marL="742950" lvl="1" indent="-285750"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Allen, PW, Motion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A6731D1-ADA0-2CED-8FC5-5B6B72A4BACC}"/>
              </a:ext>
            </a:extLst>
          </p:cNvPr>
          <p:cNvSpPr/>
          <p:nvPr/>
        </p:nvSpPr>
        <p:spPr>
          <a:xfrm>
            <a:off x="7631214" y="1385841"/>
            <a:ext cx="4284134" cy="208836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2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Need:</a:t>
            </a:r>
            <a:endParaRPr lang="en-US" dirty="0"/>
          </a:p>
          <a:p>
            <a:pPr marL="742950" lvl="1" indent="-285750"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Growing Online exams</a:t>
            </a:r>
            <a:endParaRPr lang="en-US" dirty="0"/>
          </a:p>
          <a:p>
            <a:pPr marL="742950" lvl="1" indent="-285750"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for fair evaluation</a:t>
            </a:r>
            <a:endParaRPr lang="en-US" dirty="0"/>
          </a:p>
          <a:p>
            <a:pPr marL="742950" lvl="1" indent="-285750"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Demand for ethical AI monitoring</a:t>
            </a:r>
            <a:endParaRPr lang="en-US" dirty="0"/>
          </a:p>
          <a:p>
            <a:pPr marL="742950" lvl="1" indent="-285750"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Scalable remote proctoring </a:t>
            </a: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1B7DA81-D509-1746-182A-67F9B5303ADA}"/>
              </a:ext>
            </a:extLst>
          </p:cNvPr>
          <p:cNvSpPr/>
          <p:nvPr/>
        </p:nvSpPr>
        <p:spPr>
          <a:xfrm>
            <a:off x="729281" y="6190395"/>
            <a:ext cx="10963186" cy="626533"/>
          </a:xfrm>
          <a:prstGeom prst="roundRect">
            <a:avLst>
              <a:gd name="adj" fmla="val 2204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Deployed Link</a:t>
            </a:r>
            <a:r>
              <a:rPr lang="en-IN" sz="2400" dirty="0">
                <a:solidFill>
                  <a:schemeClr val="tx1"/>
                </a:solidFill>
              </a:rPr>
              <a:t>:</a:t>
            </a:r>
            <a:r>
              <a:rPr lang="en-IN" sz="2400" i="1" dirty="0">
                <a:solidFill>
                  <a:schemeClr val="tx1"/>
                </a:solidFill>
              </a:rPr>
              <a:t> </a:t>
            </a:r>
            <a:r>
              <a:rPr lang="en-US" sz="2400" i="1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ExamGuard AI - Online Exam Cheating Risk </a:t>
            </a:r>
            <a:r>
              <a:rPr lang="en-US" sz="2400" i="1" dirty="0" smtClean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Predictor</a:t>
            </a:r>
            <a:endParaRPr lang="en-US" sz="2400" i="1" dirty="0" smtClean="0">
              <a:solidFill>
                <a:schemeClr val="tx1"/>
              </a:solidFill>
            </a:endParaRPr>
          </a:p>
          <a:p>
            <a:pPr algn="ctr"/>
            <a:r>
              <a:rPr lang="en-IN" sz="2400" b="1" i="1" dirty="0" smtClean="0">
                <a:solidFill>
                  <a:schemeClr val="tx1"/>
                </a:solidFill>
              </a:rPr>
              <a:t>                     https</a:t>
            </a:r>
            <a:r>
              <a:rPr lang="en-IN" sz="2400" b="1" i="1" dirty="0">
                <a:solidFill>
                  <a:schemeClr val="tx1"/>
                </a:solidFill>
              </a:rPr>
              <a:t>://project-exam-guard-ai-batch2.vercel.app/</a:t>
            </a:r>
            <a:endParaRPr lang="en-IN" sz="2400" b="1" i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AA1059D5-7E93-79E0-153A-61A78F44A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g3d360a1af29_0_3">
            <a:extLst>
              <a:ext uri="{FF2B5EF4-FFF2-40B4-BE49-F238E27FC236}">
                <a16:creationId xmlns:a16="http://schemas.microsoft.com/office/drawing/2014/main" id="{42879187-4269-4CA4-DF3A-850BDFAC0E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58562" cy="1347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d360a1af29_0_3">
            <a:extLst>
              <a:ext uri="{FF2B5EF4-FFF2-40B4-BE49-F238E27FC236}">
                <a16:creationId xmlns:a16="http://schemas.microsoft.com/office/drawing/2014/main" id="{C8A887CE-F2B8-F02B-121D-74873617AD5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81129"/>
          <a:stretch/>
        </p:blipFill>
        <p:spPr>
          <a:xfrm>
            <a:off x="9553668" y="156397"/>
            <a:ext cx="1949143" cy="103422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d360a1af29_0_3">
            <a:extLst>
              <a:ext uri="{FF2B5EF4-FFF2-40B4-BE49-F238E27FC236}">
                <a16:creationId xmlns:a16="http://schemas.microsoft.com/office/drawing/2014/main" id="{EA208F4C-F391-F01E-E44F-FE82C9294AA2}"/>
              </a:ext>
            </a:extLst>
          </p:cNvPr>
          <p:cNvSpPr/>
          <p:nvPr/>
        </p:nvSpPr>
        <p:spPr>
          <a:xfrm>
            <a:off x="4030133" y="5681133"/>
            <a:ext cx="1591800" cy="4473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d360a1af29_0_3">
            <a:extLst>
              <a:ext uri="{FF2B5EF4-FFF2-40B4-BE49-F238E27FC236}">
                <a16:creationId xmlns:a16="http://schemas.microsoft.com/office/drawing/2014/main" id="{1CAB3F86-8EA8-5CF8-0F49-A39458EFC6FF}"/>
              </a:ext>
            </a:extLst>
          </p:cNvPr>
          <p:cNvSpPr/>
          <p:nvPr/>
        </p:nvSpPr>
        <p:spPr>
          <a:xfrm>
            <a:off x="4030133" y="6239933"/>
            <a:ext cx="1624500" cy="5334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9C620E-7FE8-30C4-8421-32DA24B2902A}"/>
              </a:ext>
            </a:extLst>
          </p:cNvPr>
          <p:cNvSpPr/>
          <p:nvPr/>
        </p:nvSpPr>
        <p:spPr>
          <a:xfrm>
            <a:off x="2663357" y="2205335"/>
            <a:ext cx="5982552" cy="19389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Edwardian Script ITC" panose="030303020407070D0804" pitchFamily="66" charset="0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4745FF-ECBA-35C3-6899-7922BFFA6AC7}"/>
              </a:ext>
            </a:extLst>
          </p:cNvPr>
          <p:cNvSpPr txBox="1"/>
          <p:nvPr/>
        </p:nvSpPr>
        <p:spPr>
          <a:xfrm>
            <a:off x="3793067" y="4371720"/>
            <a:ext cx="35221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i="1" u="sng" dirty="0"/>
              <a:t>Team – Tech Titans</a:t>
            </a:r>
          </a:p>
        </p:txBody>
      </p:sp>
    </p:spTree>
    <p:extLst>
      <p:ext uri="{BB962C8B-B14F-4D97-AF65-F5344CB8AC3E}">
        <p14:creationId xmlns:p14="http://schemas.microsoft.com/office/powerpoint/2010/main" val="3115336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/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hackxtreme_temp (1) (4)</Template>
  <TotalTime>917</TotalTime>
  <Words>328</Words>
  <Application>Microsoft Office PowerPoint</Application>
  <PresentationFormat>Widescreen</PresentationFormat>
  <Paragraphs>65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Edwardian Script ITC</vt:lpstr>
      <vt:lpstr>Arial Black</vt:lpstr>
      <vt:lpstr>Arial</vt:lpstr>
      <vt:lpstr>Noto Sans Symbols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Suraj Bhan Kumar</dc:creator>
  <cp:lastModifiedBy>Shaik.AbdulRazak</cp:lastModifiedBy>
  <cp:revision>3</cp:revision>
  <dcterms:created xsi:type="dcterms:W3CDTF">2026-03-30T12:06:54Z</dcterms:created>
  <dcterms:modified xsi:type="dcterms:W3CDTF">2026-03-31T03:27:53Z</dcterms:modified>
</cp:coreProperties>
</file>