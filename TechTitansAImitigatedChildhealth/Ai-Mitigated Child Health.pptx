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2"/>
  </p:notesMasterIdLst>
  <p:sldIdLst>
    <p:sldId id="256" r:id="rId2"/>
    <p:sldId id="261" r:id="rId3"/>
    <p:sldId id="259" r:id="rId4"/>
    <p:sldId id="258" r:id="rId5"/>
    <p:sldId id="257" r:id="rId6"/>
    <p:sldId id="262" r:id="rId7"/>
    <p:sldId id="268" r:id="rId8"/>
    <p:sldId id="267" r:id="rId9"/>
    <p:sldId id="269" r:id="rId10"/>
    <p:sldId id="263" r:id="rId11"/>
  </p:sldIdLst>
  <p:sldSz cx="9144000" cy="5143500" type="screen16x9"/>
  <p:notesSz cx="6858000" cy="9144000"/>
  <p:embeddedFontLst>
    <p:embeddedFont>
      <p:font typeface="Fira Sans Condensed Medium" panose="020B0603050000020004" pitchFamily="34" charset="0"/>
      <p:regular r:id="rId13"/>
      <p:bold r:id="rId14"/>
      <p:italic r:id="rId15"/>
      <p:boldItalic r:id="rId16"/>
    </p:embeddedFont>
    <p:embeddedFont>
      <p:font typeface="Fira Sans Extra Condensed Medium" panose="020B0604020202020204" charset="0"/>
      <p:regular r:id="rId17"/>
      <p:bold r:id="rId18"/>
      <p:italic r:id="rId19"/>
      <p:boldItalic r:id="rId20"/>
    </p:embeddedFont>
    <p:embeddedFont>
      <p:font typeface="Nunito" pitchFamily="2" charset="0"/>
      <p:regular r:id="rId21"/>
      <p:bold r:id="rId22"/>
      <p:italic r:id="rId23"/>
      <p:boldItalic r:id="rId24"/>
    </p:embeddedFont>
    <p:embeddedFont>
      <p:font typeface="Titan One" panose="020B0604020202020204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A43162-0D46-4221-906E-57172930C324}">
  <a:tblStyle styleId="{1BA43162-0D46-4221-906E-57172930C3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2788f27df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2788f27df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277f569fd8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277f569fd8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2293ff25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2293ff25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2644f03ec1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2644f03ec1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26da946fed_0_9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26da946fed_0_9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2293ff254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2293ff254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277f569fd8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277f569fd8_0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277f569fd8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277f569fd8_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277f569fd8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277f569fd8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277f569fd8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277f569fd8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6425" y="1491625"/>
            <a:ext cx="4949400" cy="17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83484" y="3310398"/>
            <a:ext cx="4035300" cy="3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ctrTitle" idx="2"/>
          </p:nvPr>
        </p:nvSpPr>
        <p:spPr>
          <a:xfrm flipH="1">
            <a:off x="1649528" y="2862775"/>
            <a:ext cx="1883400" cy="3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 flipH="1">
            <a:off x="713226" y="3289375"/>
            <a:ext cx="3758100" cy="9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ctrTitle" idx="3"/>
          </p:nvPr>
        </p:nvSpPr>
        <p:spPr>
          <a:xfrm flipH="1">
            <a:off x="5611075" y="2862775"/>
            <a:ext cx="1883400" cy="3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4"/>
          </p:nvPr>
        </p:nvSpPr>
        <p:spPr>
          <a:xfrm flipH="1">
            <a:off x="4676875" y="3289375"/>
            <a:ext cx="3753900" cy="9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4572000" y="1039488"/>
            <a:ext cx="3858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4572000" y="1795188"/>
            <a:ext cx="3858900" cy="24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4385575" y="1728150"/>
            <a:ext cx="4045200" cy="8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4385575" y="2649525"/>
            <a:ext cx="4045200" cy="10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">
  <p:cSld name="BLANK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ctrTitle"/>
          </p:nvPr>
        </p:nvSpPr>
        <p:spPr>
          <a:xfrm flipH="1">
            <a:off x="3479100" y="1876429"/>
            <a:ext cx="2004000" cy="4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ubTitle" idx="1"/>
          </p:nvPr>
        </p:nvSpPr>
        <p:spPr>
          <a:xfrm flipH="1">
            <a:off x="3479104" y="2207925"/>
            <a:ext cx="2388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479100" y="1236725"/>
            <a:ext cx="851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3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13"/>
          <p:cNvSpPr txBox="1">
            <a:spLocks noGrp="1"/>
          </p:cNvSpPr>
          <p:nvPr>
            <p:ph type="ctrTitle" idx="3"/>
          </p:nvPr>
        </p:nvSpPr>
        <p:spPr>
          <a:xfrm flipH="1">
            <a:off x="3479525" y="3664675"/>
            <a:ext cx="3185100" cy="4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ubTitle" idx="4"/>
          </p:nvPr>
        </p:nvSpPr>
        <p:spPr>
          <a:xfrm flipH="1">
            <a:off x="3479100" y="3996275"/>
            <a:ext cx="2388000" cy="6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5" hasCustomPrompt="1"/>
          </p:nvPr>
        </p:nvSpPr>
        <p:spPr>
          <a:xfrm flipH="1">
            <a:off x="3479100" y="3025075"/>
            <a:ext cx="851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3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>
            <a:spLocks noGrp="1"/>
          </p:cNvSpPr>
          <p:nvPr>
            <p:ph type="ctrTitle" idx="6"/>
          </p:nvPr>
        </p:nvSpPr>
        <p:spPr>
          <a:xfrm flipH="1">
            <a:off x="713000" y="1876425"/>
            <a:ext cx="2004000" cy="4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7"/>
          </p:nvPr>
        </p:nvSpPr>
        <p:spPr>
          <a:xfrm flipH="1">
            <a:off x="713229" y="2207925"/>
            <a:ext cx="2388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8" hasCustomPrompt="1"/>
          </p:nvPr>
        </p:nvSpPr>
        <p:spPr>
          <a:xfrm flipH="1">
            <a:off x="713252" y="1236725"/>
            <a:ext cx="851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3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ctrTitle" idx="9"/>
          </p:nvPr>
        </p:nvSpPr>
        <p:spPr>
          <a:xfrm flipH="1">
            <a:off x="713000" y="3664675"/>
            <a:ext cx="2004000" cy="4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18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3"/>
          </p:nvPr>
        </p:nvSpPr>
        <p:spPr>
          <a:xfrm flipH="1">
            <a:off x="713225" y="3996275"/>
            <a:ext cx="2388000" cy="6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4" hasCustomPrompt="1"/>
          </p:nvPr>
        </p:nvSpPr>
        <p:spPr>
          <a:xfrm flipH="1">
            <a:off x="713252" y="3025075"/>
            <a:ext cx="851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3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15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4070575" y="320506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2879500" y="1616100"/>
            <a:ext cx="55515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3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/>
          <p:nvPr/>
        </p:nvSpPr>
        <p:spPr>
          <a:xfrm flipH="1">
            <a:off x="-2028325" y="4542125"/>
            <a:ext cx="3440400" cy="163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0"/>
          <p:cNvSpPr/>
          <p:nvPr/>
        </p:nvSpPr>
        <p:spPr>
          <a:xfrm flipH="1">
            <a:off x="7509025" y="4516325"/>
            <a:ext cx="1536600" cy="215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6253" y="1355663"/>
            <a:ext cx="1252598" cy="963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4463" y="530338"/>
            <a:ext cx="856301" cy="897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691551" y="2571750"/>
            <a:ext cx="1290425" cy="2218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41725" y="-2"/>
            <a:ext cx="2322176" cy="6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-2063401" y="3032350"/>
            <a:ext cx="3369651" cy="157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_1_1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/>
          <p:nvPr/>
        </p:nvSpPr>
        <p:spPr>
          <a:xfrm flipH="1">
            <a:off x="-2028325" y="4542125"/>
            <a:ext cx="3440400" cy="163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1"/>
          <p:cNvSpPr/>
          <p:nvPr/>
        </p:nvSpPr>
        <p:spPr>
          <a:xfrm flipH="1">
            <a:off x="7532300" y="4516325"/>
            <a:ext cx="2869800" cy="215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507550" y="-2"/>
            <a:ext cx="2322176" cy="6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4821"/>
            <a:ext cx="1290425" cy="3903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2449" y="3032350"/>
            <a:ext cx="3369651" cy="157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1499" y="1056975"/>
            <a:ext cx="723000" cy="79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itan One"/>
              <a:buNone/>
              <a:defRPr sz="2800">
                <a:solidFill>
                  <a:schemeClr val="accent1"/>
                </a:solidFill>
                <a:latin typeface="Titan One"/>
                <a:ea typeface="Titan One"/>
                <a:cs typeface="Titan One"/>
                <a:sym typeface="Titan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itan One"/>
              <a:buNone/>
              <a:defRPr sz="2800">
                <a:solidFill>
                  <a:schemeClr val="accent1"/>
                </a:solidFill>
                <a:latin typeface="Titan One"/>
                <a:ea typeface="Titan One"/>
                <a:cs typeface="Titan One"/>
                <a:sym typeface="Titan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itan One"/>
              <a:buNone/>
              <a:defRPr sz="2800">
                <a:solidFill>
                  <a:schemeClr val="accent1"/>
                </a:solidFill>
                <a:latin typeface="Titan One"/>
                <a:ea typeface="Titan One"/>
                <a:cs typeface="Titan One"/>
                <a:sym typeface="Titan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itan One"/>
              <a:buNone/>
              <a:defRPr sz="2800">
                <a:solidFill>
                  <a:schemeClr val="accent1"/>
                </a:solidFill>
                <a:latin typeface="Titan One"/>
                <a:ea typeface="Titan One"/>
                <a:cs typeface="Titan One"/>
                <a:sym typeface="Titan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itan One"/>
              <a:buNone/>
              <a:defRPr sz="2800">
                <a:solidFill>
                  <a:schemeClr val="accent1"/>
                </a:solidFill>
                <a:latin typeface="Titan One"/>
                <a:ea typeface="Titan One"/>
                <a:cs typeface="Titan One"/>
                <a:sym typeface="Titan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itan One"/>
              <a:buNone/>
              <a:defRPr sz="2800">
                <a:solidFill>
                  <a:schemeClr val="accent1"/>
                </a:solidFill>
                <a:latin typeface="Titan One"/>
                <a:ea typeface="Titan One"/>
                <a:cs typeface="Titan One"/>
                <a:sym typeface="Titan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itan One"/>
              <a:buNone/>
              <a:defRPr sz="2800">
                <a:solidFill>
                  <a:schemeClr val="accent1"/>
                </a:solidFill>
                <a:latin typeface="Titan One"/>
                <a:ea typeface="Titan One"/>
                <a:cs typeface="Titan One"/>
                <a:sym typeface="Titan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itan One"/>
              <a:buNone/>
              <a:defRPr sz="2800">
                <a:solidFill>
                  <a:schemeClr val="accent1"/>
                </a:solidFill>
                <a:latin typeface="Titan One"/>
                <a:ea typeface="Titan One"/>
                <a:cs typeface="Titan One"/>
                <a:sym typeface="Titan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itan One"/>
              <a:buNone/>
              <a:defRPr sz="2800">
                <a:solidFill>
                  <a:schemeClr val="accent1"/>
                </a:solidFill>
                <a:latin typeface="Titan One"/>
                <a:ea typeface="Titan One"/>
                <a:cs typeface="Titan One"/>
                <a:sym typeface="Titan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348450"/>
            <a:ext cx="7717500" cy="3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5" r:id="rId5"/>
    <p:sldLayoutId id="2147483658" r:id="rId6"/>
    <p:sldLayoutId id="2147483659" r:id="rId7"/>
    <p:sldLayoutId id="2147483660" r:id="rId8"/>
    <p:sldLayoutId id="2147483669" r:id="rId9"/>
    <p:sldLayoutId id="2147483675" r:id="rId10"/>
    <p:sldLayoutId id="2147483676" r:id="rId11"/>
    <p:sldLayoutId id="2147483677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7Z_Mkkwx0J1siTXY71LZd_-vEeB6iSa-iAgES04JKOA/copy?usp=sharin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/>
          <p:nvPr/>
        </p:nvSpPr>
        <p:spPr>
          <a:xfrm>
            <a:off x="5880482" y="4542125"/>
            <a:ext cx="3113100" cy="12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5"/>
          <p:cNvSpPr/>
          <p:nvPr/>
        </p:nvSpPr>
        <p:spPr>
          <a:xfrm>
            <a:off x="377539" y="2441334"/>
            <a:ext cx="5774726" cy="626093"/>
          </a:xfrm>
          <a:prstGeom prst="roundRect">
            <a:avLst>
              <a:gd name="adj" fmla="val 26301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35"/>
          <p:cNvSpPr txBox="1">
            <a:spLocks noGrp="1"/>
          </p:cNvSpPr>
          <p:nvPr>
            <p:ph type="ctrTitle"/>
          </p:nvPr>
        </p:nvSpPr>
        <p:spPr>
          <a:xfrm>
            <a:off x="-232029" y="1355075"/>
            <a:ext cx="7469642" cy="11575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7200" dirty="0"/>
              <a:t>AI-Mitigated </a:t>
            </a:r>
            <a:r>
              <a:rPr lang="en" sz="4400" dirty="0">
                <a:solidFill>
                  <a:schemeClr val="dk2"/>
                </a:solidFill>
              </a:rPr>
              <a:t>Child Health</a:t>
            </a:r>
            <a:endParaRPr sz="4400" dirty="0">
              <a:solidFill>
                <a:schemeClr val="dk2"/>
              </a:solidFill>
            </a:endParaRPr>
          </a:p>
        </p:txBody>
      </p:sp>
      <p:sp>
        <p:nvSpPr>
          <p:cNvPr id="176" name="Google Shape;176;p35"/>
          <p:cNvSpPr txBox="1">
            <a:spLocks noGrp="1"/>
          </p:cNvSpPr>
          <p:nvPr>
            <p:ph type="subTitle" idx="1"/>
          </p:nvPr>
        </p:nvSpPr>
        <p:spPr>
          <a:xfrm>
            <a:off x="711483" y="2585930"/>
            <a:ext cx="4822746" cy="33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Predictive Analytics &amp; Intervention Framework for Urban Pollution and Pediatric Health Risks</a:t>
            </a:r>
            <a:endParaRPr dirty="0"/>
          </a:p>
        </p:txBody>
      </p:sp>
      <p:pic>
        <p:nvPicPr>
          <p:cNvPr id="177" name="Google Shape;17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5678" y="1277823"/>
            <a:ext cx="2283948" cy="3384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8600" y="-2"/>
            <a:ext cx="2322176" cy="6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0409" y="870838"/>
            <a:ext cx="634174" cy="69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325" y="-2"/>
            <a:ext cx="2322176" cy="6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694197-554C-6A1B-FF56-31F6794BD6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50427" cy="5143500"/>
          </a:xfrm>
          <a:prstGeom prst="rect">
            <a:avLst/>
          </a:prstGeom>
          <a:ln w="1270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6D682F-27A0-2956-BFF3-01A20F8D1429}"/>
              </a:ext>
            </a:extLst>
          </p:cNvPr>
          <p:cNvSpPr txBox="1"/>
          <p:nvPr/>
        </p:nvSpPr>
        <p:spPr>
          <a:xfrm>
            <a:off x="325665" y="3224828"/>
            <a:ext cx="30774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R Praveen Kumar [TL]</a:t>
            </a:r>
          </a:p>
          <a:p>
            <a:r>
              <a:rPr lang="en-IN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Shaik Abdul Razak</a:t>
            </a:r>
          </a:p>
          <a:p>
            <a:r>
              <a:rPr lang="en-IN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Kasula Shiva Kumar</a:t>
            </a:r>
          </a:p>
          <a:p>
            <a:r>
              <a:rPr lang="en-IN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Ganireddy</a:t>
            </a:r>
            <a:r>
              <a:rPr lang="en-IN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Umesh</a:t>
            </a:r>
          </a:p>
          <a:p>
            <a:r>
              <a:rPr lang="en-IN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Rajesh </a:t>
            </a:r>
            <a:r>
              <a:rPr lang="en-IN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Potharla</a:t>
            </a:r>
            <a:endParaRPr lang="en-IN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25B31-AB12-DD2B-22BA-1980E330BF30}"/>
              </a:ext>
            </a:extLst>
          </p:cNvPr>
          <p:cNvSpPr txBox="1"/>
          <p:nvPr/>
        </p:nvSpPr>
        <p:spPr>
          <a:xfrm>
            <a:off x="3070105" y="3454099"/>
            <a:ext cx="31701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Affiliation:</a:t>
            </a:r>
          </a:p>
          <a:p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Chaitanya Deemed to be University</a:t>
            </a:r>
          </a:p>
          <a:p>
            <a:r>
              <a:rPr lang="en-IN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Himayathnagar</a:t>
            </a:r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Hyderabad</a:t>
            </a:r>
          </a:p>
          <a:p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500075 - Telangana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748A971-4DFF-FE4F-3E6C-311A05A23D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98"/>
          <a:stretch>
            <a:fillRect/>
          </a:stretch>
        </p:blipFill>
        <p:spPr>
          <a:xfrm>
            <a:off x="88835" y="1734854"/>
            <a:ext cx="4240703" cy="2455895"/>
          </a:xfrm>
          <a:prstGeom prst="rect">
            <a:avLst/>
          </a:prstGeom>
        </p:spPr>
      </p:pic>
      <p:sp>
        <p:nvSpPr>
          <p:cNvPr id="245" name="Google Shape;245;p40"/>
          <p:cNvSpPr/>
          <p:nvPr/>
        </p:nvSpPr>
        <p:spPr>
          <a:xfrm flipH="1">
            <a:off x="715963" y="2626501"/>
            <a:ext cx="875093" cy="19529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40"/>
          <p:cNvSpPr txBox="1">
            <a:spLocks noGrp="1"/>
          </p:cNvSpPr>
          <p:nvPr>
            <p:ph type="title"/>
          </p:nvPr>
        </p:nvSpPr>
        <p:spPr>
          <a:xfrm>
            <a:off x="44785" y="820455"/>
            <a:ext cx="4477111" cy="9143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“The Growing Threat: </a:t>
            </a:r>
            <a:br>
              <a:rPr lang="en-US" dirty="0"/>
            </a:br>
            <a:r>
              <a:rPr lang="en-US" dirty="0"/>
              <a:t>                                          </a:t>
            </a:r>
            <a:endParaRPr dirty="0"/>
          </a:p>
        </p:txBody>
      </p:sp>
      <p:sp>
        <p:nvSpPr>
          <p:cNvPr id="247" name="Google Shape;247;p40"/>
          <p:cNvSpPr txBox="1">
            <a:spLocks noGrp="1"/>
          </p:cNvSpPr>
          <p:nvPr>
            <p:ph type="body" idx="1"/>
          </p:nvPr>
        </p:nvSpPr>
        <p:spPr>
          <a:xfrm>
            <a:off x="4517990" y="1641571"/>
            <a:ext cx="3858900" cy="30774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IN" dirty="0"/>
              <a:t>Lists like this one:-</a:t>
            </a:r>
          </a:p>
          <a:p>
            <a:pPr lvl="0" indent="-317500">
              <a:spcBef>
                <a:spcPts val="1200"/>
              </a:spcBef>
              <a:buSzPts val="1400"/>
            </a:pPr>
            <a:r>
              <a:rPr lang="en-US" dirty="0"/>
              <a:t>90% of children breathe air exceeding WHO pollution limits </a:t>
            </a:r>
          </a:p>
          <a:p>
            <a:pPr lvl="0" indent="-317500">
              <a:spcBef>
                <a:spcPts val="1200"/>
              </a:spcBef>
              <a:buSzPts val="1400"/>
            </a:pPr>
            <a:r>
              <a:rPr lang="en-US" dirty="0"/>
              <a:t>Rising pediatric respiratory infections in urban areas </a:t>
            </a:r>
          </a:p>
          <a:p>
            <a:pPr lvl="0" indent="-317500">
              <a:spcBef>
                <a:spcPts val="1200"/>
              </a:spcBef>
              <a:buSzPts val="1400"/>
            </a:pPr>
            <a:r>
              <a:rPr lang="en-US" dirty="0"/>
              <a:t>Lack of </a:t>
            </a:r>
            <a:r>
              <a:rPr lang="en-US" b="1" dirty="0"/>
              <a:t>real-time preventive systems</a:t>
            </a:r>
            <a:r>
              <a:rPr lang="en-US" dirty="0"/>
              <a:t> — existing models are reactive </a:t>
            </a:r>
          </a:p>
          <a:p>
            <a:pPr lvl="0" indent="-317500">
              <a:spcBef>
                <a:spcPts val="1200"/>
              </a:spcBef>
              <a:buSzPts val="1400"/>
            </a:pPr>
            <a:r>
              <a:rPr lang="en-US" dirty="0"/>
              <a:t>Need for </a:t>
            </a:r>
            <a:r>
              <a:rPr lang="en-US" b="1" dirty="0"/>
              <a:t>AI-driven prediction and intervention framework</a:t>
            </a:r>
            <a:endParaRPr dirty="0"/>
          </a:p>
        </p:txBody>
      </p:sp>
      <p:pic>
        <p:nvPicPr>
          <p:cNvPr id="248" name="Google Shape;24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576" y="1912411"/>
            <a:ext cx="1051248" cy="787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1272337" y="-2"/>
            <a:ext cx="2322176" cy="6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090643-C3D3-ED98-4F93-F707C127DD17}"/>
              </a:ext>
            </a:extLst>
          </p:cNvPr>
          <p:cNvSpPr txBox="1"/>
          <p:nvPr/>
        </p:nvSpPr>
        <p:spPr>
          <a:xfrm>
            <a:off x="4141086" y="1309691"/>
            <a:ext cx="4612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 dirty="0">
                <a:solidFill>
                  <a:schemeClr val="dk2"/>
                </a:solidFill>
                <a:latin typeface="Titan One" panose="020B0604020202020204" charset="0"/>
              </a:rPr>
              <a:t>Urban </a:t>
            </a:r>
            <a:r>
              <a:rPr lang="en-US" sz="2000" dirty="0">
                <a:solidFill>
                  <a:schemeClr val="dk2"/>
                </a:solidFill>
                <a:latin typeface="Titan One" panose="020B0604020202020204" charset="0"/>
              </a:rPr>
              <a:t>pollution &amp; child Health “</a:t>
            </a:r>
            <a:endParaRPr lang="en-IN" sz="2000" dirty="0">
              <a:latin typeface="Titan One" panose="020B060402020202020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8EDDD5-9FE4-D5A3-F591-10768ADC09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5042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/>
          <p:nvPr/>
        </p:nvSpPr>
        <p:spPr>
          <a:xfrm flipH="1">
            <a:off x="29542" y="4542125"/>
            <a:ext cx="3440400" cy="163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38"/>
          <p:cNvSpPr/>
          <p:nvPr/>
        </p:nvSpPr>
        <p:spPr>
          <a:xfrm flipH="1">
            <a:off x="3130524" y="4489404"/>
            <a:ext cx="1536600" cy="215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8"/>
          <p:cNvSpPr txBox="1">
            <a:spLocks noGrp="1"/>
          </p:cNvSpPr>
          <p:nvPr>
            <p:ph type="title"/>
          </p:nvPr>
        </p:nvSpPr>
        <p:spPr>
          <a:xfrm>
            <a:off x="4221050" y="930953"/>
            <a:ext cx="4861775" cy="8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3200" dirty="0"/>
              <a:t>Project Vision &amp; Strategic Objectives</a:t>
            </a:r>
            <a:endParaRPr sz="3200" dirty="0"/>
          </a:p>
        </p:txBody>
      </p:sp>
      <p:pic>
        <p:nvPicPr>
          <p:cNvPr id="224" name="Google Shape;22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3901" y="834139"/>
            <a:ext cx="856301" cy="897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98430" y="2500695"/>
            <a:ext cx="1290425" cy="2218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41725" y="-2"/>
            <a:ext cx="2322176" cy="6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0122" y="3073873"/>
            <a:ext cx="3369651" cy="15762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BF2270-0F87-CA3D-C810-6BF088F3207C}"/>
              </a:ext>
            </a:extLst>
          </p:cNvPr>
          <p:cNvSpPr txBox="1"/>
          <p:nvPr/>
        </p:nvSpPr>
        <p:spPr>
          <a:xfrm>
            <a:off x="4551860" y="2035359"/>
            <a:ext cx="454009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-317500">
              <a:spcBef>
                <a:spcPts val="1200"/>
              </a:spcBef>
              <a:buClr>
                <a:schemeClr val="tx2"/>
              </a:buClr>
              <a:buSzPts val="1400"/>
              <a:buFont typeface="Wingdings" panose="05000000000000000000" pitchFamily="2" charset="2"/>
              <a:buChar char="v"/>
            </a:pPr>
            <a:r>
              <a:rPr lang="en-IN" b="1" dirty="0">
                <a:latin typeface="Nunito" pitchFamily="2" charset="0"/>
              </a:rPr>
              <a:t>Data Integration &amp; Environmental Monitoring</a:t>
            </a:r>
            <a:r>
              <a:rPr lang="en-US" b="1" dirty="0">
                <a:latin typeface="Nunito" pitchFamily="2" charset="0"/>
              </a:rPr>
              <a:t> </a:t>
            </a:r>
          </a:p>
          <a:p>
            <a:pPr lvl="0" indent="-317500">
              <a:spcBef>
                <a:spcPts val="1200"/>
              </a:spcBef>
              <a:buClr>
                <a:schemeClr val="tx2"/>
              </a:buClr>
              <a:buSzPts val="1400"/>
              <a:buFont typeface="Wingdings" panose="05000000000000000000" pitchFamily="2" charset="2"/>
              <a:buChar char="v"/>
            </a:pPr>
            <a:r>
              <a:rPr lang="en-IN" b="1" dirty="0">
                <a:latin typeface="Nunito" pitchFamily="2" charset="0"/>
              </a:rPr>
              <a:t>AI-Powered Risk Prediction</a:t>
            </a:r>
          </a:p>
          <a:p>
            <a:pPr lvl="0" indent="-317500">
              <a:spcBef>
                <a:spcPts val="1200"/>
              </a:spcBef>
              <a:buClr>
                <a:schemeClr val="tx2"/>
              </a:buClr>
              <a:buSzPts val="1400"/>
              <a:buFont typeface="Wingdings" panose="05000000000000000000" pitchFamily="2" charset="2"/>
              <a:buChar char="v"/>
            </a:pPr>
            <a:r>
              <a:rPr lang="en-IN" b="1" dirty="0">
                <a:latin typeface="Nunito" pitchFamily="2" charset="0"/>
              </a:rPr>
              <a:t>Early Warning &amp; Intervention System</a:t>
            </a:r>
          </a:p>
          <a:p>
            <a:pPr lvl="0" indent="-317500">
              <a:spcBef>
                <a:spcPts val="1200"/>
              </a:spcBef>
              <a:buClr>
                <a:schemeClr val="tx2"/>
              </a:buClr>
              <a:buSzPts val="1400"/>
              <a:buFont typeface="Wingdings" panose="05000000000000000000" pitchFamily="2" charset="2"/>
              <a:buChar char="v"/>
            </a:pPr>
            <a:r>
              <a:rPr lang="en-IN" b="1" dirty="0">
                <a:latin typeface="Nunito" pitchFamily="2" charset="0"/>
              </a:rPr>
              <a:t>Clinical Validation &amp; Impact Assessment</a:t>
            </a:r>
          </a:p>
          <a:p>
            <a:pPr lvl="0" indent="-317500">
              <a:spcBef>
                <a:spcPts val="1200"/>
              </a:spcBef>
              <a:buClr>
                <a:schemeClr val="tx2"/>
              </a:buClr>
              <a:buSzPts val="1400"/>
              <a:buFont typeface="Wingdings" panose="05000000000000000000" pitchFamily="2" charset="2"/>
              <a:buChar char="v"/>
            </a:pPr>
            <a:r>
              <a:rPr lang="en-IN" b="1" dirty="0">
                <a:latin typeface="Nunito" pitchFamily="2" charset="0"/>
              </a:rPr>
              <a:t>Policy &amp; Community Engagement</a:t>
            </a:r>
            <a:endParaRPr lang="en-US" b="1" dirty="0">
              <a:latin typeface="Nunito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37788D-9325-15D3-516E-F7CAE0FD59B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681" r="18329" b="12778"/>
          <a:stretch>
            <a:fillRect/>
          </a:stretch>
        </p:blipFill>
        <p:spPr>
          <a:xfrm>
            <a:off x="430441" y="834139"/>
            <a:ext cx="2243842" cy="207054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5C6C22-1677-C803-0D54-41054F1AA3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5042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7"/>
          <p:cNvSpPr/>
          <p:nvPr/>
        </p:nvSpPr>
        <p:spPr>
          <a:xfrm>
            <a:off x="7140000" y="4444349"/>
            <a:ext cx="2004000" cy="12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7"/>
          <p:cNvSpPr/>
          <p:nvPr/>
        </p:nvSpPr>
        <p:spPr>
          <a:xfrm>
            <a:off x="3722834" y="1504134"/>
            <a:ext cx="2514000" cy="396000"/>
          </a:xfrm>
          <a:prstGeom prst="roundRect">
            <a:avLst>
              <a:gd name="adj" fmla="val 26301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7"/>
          <p:cNvSpPr/>
          <p:nvPr/>
        </p:nvSpPr>
        <p:spPr>
          <a:xfrm>
            <a:off x="2034466" y="2917076"/>
            <a:ext cx="3502500" cy="396000"/>
          </a:xfrm>
          <a:prstGeom prst="roundRect">
            <a:avLst>
              <a:gd name="adj" fmla="val 26301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7"/>
          <p:cNvSpPr/>
          <p:nvPr/>
        </p:nvSpPr>
        <p:spPr>
          <a:xfrm>
            <a:off x="587225" y="1504138"/>
            <a:ext cx="2514000" cy="396000"/>
          </a:xfrm>
          <a:prstGeom prst="roundRect">
            <a:avLst>
              <a:gd name="adj" fmla="val 26301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7"/>
          <p:cNvSpPr txBox="1">
            <a:spLocks noGrp="1"/>
          </p:cNvSpPr>
          <p:nvPr>
            <p:ph type="ctrTitle"/>
          </p:nvPr>
        </p:nvSpPr>
        <p:spPr>
          <a:xfrm flipH="1">
            <a:off x="3848834" y="1519588"/>
            <a:ext cx="2004000" cy="4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IN" dirty="0"/>
              <a:t>Pipeline</a:t>
            </a:r>
            <a:endParaRPr dirty="0"/>
          </a:p>
        </p:txBody>
      </p:sp>
      <p:sp>
        <p:nvSpPr>
          <p:cNvPr id="200" name="Google Shape;200;p37"/>
          <p:cNvSpPr txBox="1">
            <a:spLocks noGrp="1"/>
          </p:cNvSpPr>
          <p:nvPr>
            <p:ph type="subTitle" idx="1"/>
          </p:nvPr>
        </p:nvSpPr>
        <p:spPr>
          <a:xfrm flipH="1">
            <a:off x="3322840" y="1879497"/>
            <a:ext cx="4213884" cy="8240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Real-time ingestion → Cloud processing → AI model → Alerts &amp; dashboards</a:t>
            </a:r>
            <a:endParaRPr dirty="0"/>
          </a:p>
        </p:txBody>
      </p:sp>
      <p:sp>
        <p:nvSpPr>
          <p:cNvPr id="201" name="Google Shape;201;p37"/>
          <p:cNvSpPr txBox="1">
            <a:spLocks noGrp="1"/>
          </p:cNvSpPr>
          <p:nvPr>
            <p:ph type="title" idx="2"/>
          </p:nvPr>
        </p:nvSpPr>
        <p:spPr>
          <a:xfrm flipH="1">
            <a:off x="4344941" y="868619"/>
            <a:ext cx="851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02" name="Google Shape;202;p37"/>
          <p:cNvSpPr txBox="1">
            <a:spLocks noGrp="1"/>
          </p:cNvSpPr>
          <p:nvPr>
            <p:ph type="ctrTitle" idx="3"/>
          </p:nvPr>
        </p:nvSpPr>
        <p:spPr>
          <a:xfrm flipH="1">
            <a:off x="2160891" y="2933676"/>
            <a:ext cx="3185100" cy="4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IN" dirty="0"/>
              <a:t>Architecture Layers:</a:t>
            </a:r>
          </a:p>
        </p:txBody>
      </p:sp>
      <p:sp>
        <p:nvSpPr>
          <p:cNvPr id="205" name="Google Shape;205;p37"/>
          <p:cNvSpPr txBox="1">
            <a:spLocks noGrp="1"/>
          </p:cNvSpPr>
          <p:nvPr>
            <p:ph type="ctrTitle" idx="6"/>
          </p:nvPr>
        </p:nvSpPr>
        <p:spPr>
          <a:xfrm flipH="1">
            <a:off x="713000" y="1519588"/>
            <a:ext cx="2004000" cy="4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IN" dirty="0"/>
              <a:t>Data Sources</a:t>
            </a:r>
            <a:endParaRPr dirty="0"/>
          </a:p>
        </p:txBody>
      </p:sp>
      <p:sp>
        <p:nvSpPr>
          <p:cNvPr id="206" name="Google Shape;206;p37"/>
          <p:cNvSpPr txBox="1">
            <a:spLocks noGrp="1"/>
          </p:cNvSpPr>
          <p:nvPr>
            <p:ph type="subTitle" idx="7"/>
          </p:nvPr>
        </p:nvSpPr>
        <p:spPr>
          <a:xfrm flipH="1">
            <a:off x="318600" y="1908613"/>
            <a:ext cx="2931073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IoT sensors (air quality), public datasets, pediatric health records</a:t>
            </a:r>
            <a:endParaRPr dirty="0"/>
          </a:p>
        </p:txBody>
      </p:sp>
      <p:sp>
        <p:nvSpPr>
          <p:cNvPr id="207" name="Google Shape;207;p37"/>
          <p:cNvSpPr txBox="1">
            <a:spLocks noGrp="1"/>
          </p:cNvSpPr>
          <p:nvPr>
            <p:ph type="title" idx="8"/>
          </p:nvPr>
        </p:nvSpPr>
        <p:spPr>
          <a:xfrm flipH="1">
            <a:off x="713252" y="879888"/>
            <a:ext cx="851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10" name="Google Shape;210;p37"/>
          <p:cNvSpPr txBox="1">
            <a:spLocks noGrp="1"/>
          </p:cNvSpPr>
          <p:nvPr>
            <p:ph type="title" idx="14"/>
          </p:nvPr>
        </p:nvSpPr>
        <p:spPr>
          <a:xfrm flipH="1">
            <a:off x="3393573" y="2292715"/>
            <a:ext cx="851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11" name="Google Shape;211;p37"/>
          <p:cNvSpPr txBox="1">
            <a:spLocks noGrp="1"/>
          </p:cNvSpPr>
          <p:nvPr>
            <p:ph type="title" idx="15"/>
          </p:nvPr>
        </p:nvSpPr>
        <p:spPr>
          <a:xfrm>
            <a:off x="633161" y="458886"/>
            <a:ext cx="669690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Integrated Data &amp; AI Architecture</a:t>
            </a:r>
            <a:endParaRPr dirty="0"/>
          </a:p>
        </p:txBody>
      </p:sp>
      <p:pic>
        <p:nvPicPr>
          <p:cNvPr id="212" name="Google Shape;21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0000" y="128100"/>
            <a:ext cx="634174" cy="69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3460" y="-103380"/>
            <a:ext cx="2322176" cy="6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6725" y="945949"/>
            <a:ext cx="1288675" cy="354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9378B22D-4719-A90B-9E83-597102488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228" y="3363034"/>
            <a:ext cx="62533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Data Layer: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 Air quality, health, geospatial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Model Layer: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 ML/DL ensemble (LSTM +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XGBoost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 + Transformer)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Application Layer: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 Mobile app, healthcare dashboards, APIs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F875C8D-B9DD-205E-2D9E-49E771463CB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9202" b="31941"/>
          <a:stretch>
            <a:fillRect/>
          </a:stretch>
        </p:blipFill>
        <p:spPr>
          <a:xfrm>
            <a:off x="1397619" y="4192626"/>
            <a:ext cx="5040351" cy="8481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82DD696-A0E1-4D2A-8952-5174695132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5042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>
            <a:spLocks noGrp="1"/>
          </p:cNvSpPr>
          <p:nvPr>
            <p:ph type="title"/>
          </p:nvPr>
        </p:nvSpPr>
        <p:spPr>
          <a:xfrm>
            <a:off x="706500" y="231776"/>
            <a:ext cx="7717500" cy="9759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AI-Powered Predictive Analytics for Pediatric Health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AC2C8A-A588-758B-1358-012473BF1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078152"/>
              </p:ext>
            </p:extLst>
          </p:nvPr>
        </p:nvGraphicFramePr>
        <p:xfrm>
          <a:off x="593674" y="1382751"/>
          <a:ext cx="8237060" cy="3025698"/>
        </p:xfrm>
        <a:graphic>
          <a:graphicData uri="http://schemas.openxmlformats.org/drawingml/2006/table">
            <a:tbl>
              <a:tblPr>
                <a:noFill/>
                <a:tableStyleId>{1BA43162-0D46-4221-906E-57172930C324}</a:tableStyleId>
              </a:tblPr>
              <a:tblGrid>
                <a:gridCol w="1904195">
                  <a:extLst>
                    <a:ext uri="{9D8B030D-6E8A-4147-A177-3AD203B41FA5}">
                      <a16:colId xmlns:a16="http://schemas.microsoft.com/office/drawing/2014/main" val="3703577058"/>
                    </a:ext>
                  </a:extLst>
                </a:gridCol>
                <a:gridCol w="6332865">
                  <a:extLst>
                    <a:ext uri="{9D8B030D-6E8A-4147-A177-3AD203B41FA5}">
                      <a16:colId xmlns:a16="http://schemas.microsoft.com/office/drawing/2014/main" val="2720828204"/>
                    </a:ext>
                  </a:extLst>
                </a:gridCol>
              </a:tblGrid>
              <a:tr h="12402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  <a:latin typeface="Titan One" panose="020B0604020202020204" charset="0"/>
                        </a:rPr>
                        <a:t>Model Innovations:</a:t>
                      </a:r>
                      <a:endParaRPr sz="1200" dirty="0">
                        <a:solidFill>
                          <a:schemeClr val="bg1"/>
                        </a:solidFill>
                        <a:latin typeface="Titan One" panose="020B0604020202020204" charset="0"/>
                        <a:ea typeface="Titan One"/>
                        <a:cs typeface="Titan One"/>
                        <a:sym typeface="Titan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IN" sz="1200" dirty="0">
                          <a:latin typeface="Nunito" pitchFamily="2" charset="0"/>
                        </a:rPr>
                        <a:t>Hybrid H²MCM (Health–Hazard Multi-Correlation Model)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IN" sz="1200" dirty="0">
                          <a:latin typeface="Nunito" pitchFamily="2" charset="0"/>
                        </a:rPr>
                        <a:t>Transformer-based attention for dynamic feature importance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IN" sz="1200" dirty="0">
                          <a:latin typeface="Nunito" pitchFamily="2" charset="0"/>
                        </a:rPr>
                        <a:t>Ensemble model combining </a:t>
                      </a:r>
                      <a:r>
                        <a:rPr lang="en-IN" sz="1200" b="1" dirty="0">
                          <a:latin typeface="Nunito" pitchFamily="2" charset="0"/>
                        </a:rPr>
                        <a:t>LSTM (temporal)</a:t>
                      </a:r>
                      <a:r>
                        <a:rPr lang="en-IN" sz="1200" dirty="0">
                          <a:latin typeface="Nunito" pitchFamily="2" charset="0"/>
                        </a:rPr>
                        <a:t> + </a:t>
                      </a:r>
                      <a:r>
                        <a:rPr lang="en-IN" sz="1200" b="1" dirty="0" err="1">
                          <a:latin typeface="Nunito" pitchFamily="2" charset="0"/>
                        </a:rPr>
                        <a:t>XGBoost</a:t>
                      </a:r>
                      <a:r>
                        <a:rPr lang="en-IN" sz="1200" b="1" dirty="0">
                          <a:latin typeface="Nunito" pitchFamily="2" charset="0"/>
                        </a:rPr>
                        <a:t> (tabular)</a:t>
                      </a:r>
                      <a:r>
                        <a:rPr lang="en-IN" sz="1200" dirty="0">
                          <a:latin typeface="Nunito" pitchFamily="2" charset="0"/>
                        </a:rPr>
                        <a:t> + </a:t>
                      </a:r>
                      <a:r>
                        <a:rPr lang="en-IN" sz="1200" b="1" dirty="0">
                          <a:latin typeface="Nunito" pitchFamily="2" charset="0"/>
                        </a:rPr>
                        <a:t>Neural Nets (personal health data)</a:t>
                      </a:r>
                      <a:endParaRPr lang="en-IN" sz="1200" dirty="0">
                        <a:latin typeface="Nunito" pitchFamily="2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D52">
                        <a:alpha val="348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988955"/>
                  </a:ext>
                </a:extLst>
              </a:tr>
              <a:tr h="1013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  <a:latin typeface="Titan One" panose="020B0604020202020204" charset="0"/>
                        </a:rPr>
                        <a:t>Outputs:</a:t>
                      </a:r>
                      <a:endParaRPr sz="1200" dirty="0">
                        <a:solidFill>
                          <a:schemeClr val="bg1"/>
                        </a:solidFill>
                        <a:latin typeface="Titan One" panose="020B0604020202020204" charset="0"/>
                        <a:ea typeface="Titan One"/>
                        <a:cs typeface="Titan One"/>
                        <a:sym typeface="Titan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>
                          <a:latin typeface="Nunito" pitchFamily="2" charset="0"/>
                        </a:rPr>
                        <a:t>Personalized risk scores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>
                          <a:latin typeface="Nunito" pitchFamily="2" charset="0"/>
                        </a:rPr>
                        <a:t>Spatiotemporal hotspot forecasting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>
                          <a:latin typeface="Nunito" pitchFamily="2" charset="0"/>
                        </a:rPr>
                        <a:t>Pollution-health correlation heatmaps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D52">
                        <a:alpha val="348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708796"/>
                  </a:ext>
                </a:extLst>
              </a:tr>
              <a:tr h="7720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  <a:latin typeface="Titan One" panose="020B0604020202020204" charset="0"/>
                        </a:rPr>
                        <a:t>KPIs:</a:t>
                      </a:r>
                      <a:endParaRPr sz="1200" dirty="0">
                        <a:solidFill>
                          <a:schemeClr val="bg1"/>
                        </a:solidFill>
                        <a:latin typeface="Titan One" panose="020B0604020202020204" charset="0"/>
                        <a:ea typeface="Titan One"/>
                        <a:cs typeface="Titan One"/>
                        <a:sym typeface="Titan O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>
                          <a:latin typeface="Nunito" pitchFamily="2" charset="0"/>
                        </a:rPr>
                        <a:t>Prediction Accuracy &gt; 85%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200" dirty="0">
                          <a:latin typeface="Nunito" pitchFamily="2" charset="0"/>
                        </a:rPr>
                        <a:t>Forecast horizon: 24–48 hours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D52">
                        <a:alpha val="348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1755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3F7C2E2-546C-AED2-6056-8DA5733F4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860" y="2246492"/>
            <a:ext cx="3068466" cy="19465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748685C-BABE-3764-FB16-F0D480345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5042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/>
          <p:nvPr/>
        </p:nvSpPr>
        <p:spPr>
          <a:xfrm>
            <a:off x="413324" y="1382791"/>
            <a:ext cx="2625922" cy="396000"/>
          </a:xfrm>
          <a:prstGeom prst="roundRect">
            <a:avLst>
              <a:gd name="adj" fmla="val 26301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41"/>
          <p:cNvSpPr/>
          <p:nvPr/>
        </p:nvSpPr>
        <p:spPr>
          <a:xfrm>
            <a:off x="918847" y="2835345"/>
            <a:ext cx="2514000" cy="396000"/>
          </a:xfrm>
          <a:prstGeom prst="roundRect">
            <a:avLst>
              <a:gd name="adj" fmla="val 26301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4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Turning Predictions into Protection</a:t>
            </a:r>
            <a:endParaRPr dirty="0"/>
          </a:p>
        </p:txBody>
      </p:sp>
      <p:sp>
        <p:nvSpPr>
          <p:cNvPr id="257" name="Google Shape;257;p41"/>
          <p:cNvSpPr txBox="1">
            <a:spLocks noGrp="1"/>
          </p:cNvSpPr>
          <p:nvPr>
            <p:ph type="ctrTitle" idx="2"/>
          </p:nvPr>
        </p:nvSpPr>
        <p:spPr>
          <a:xfrm flipH="1">
            <a:off x="413324" y="1375358"/>
            <a:ext cx="2625923" cy="3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System Features:</a:t>
            </a:r>
            <a:endParaRPr dirty="0"/>
          </a:p>
        </p:txBody>
      </p:sp>
      <p:sp>
        <p:nvSpPr>
          <p:cNvPr id="259" name="Google Shape;259;p41"/>
          <p:cNvSpPr txBox="1">
            <a:spLocks noGrp="1"/>
          </p:cNvSpPr>
          <p:nvPr>
            <p:ph type="ctrTitle" idx="3"/>
          </p:nvPr>
        </p:nvSpPr>
        <p:spPr>
          <a:xfrm flipH="1">
            <a:off x="1218748" y="2835345"/>
            <a:ext cx="2100365" cy="3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Stakeholders</a:t>
            </a:r>
            <a:endParaRPr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FCB8A5E-C4F9-3A5C-8717-FD048E443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807939"/>
            <a:ext cx="686117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 Real-time alerts to parents/schools (&lt;5 min latency)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 Mobile app for personalized recommendations (e.g., mask alerts, indoor playtime)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 Automated preventive notifications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AD46A4-D618-9C5D-BE28-2CC0D4315722}"/>
              </a:ext>
            </a:extLst>
          </p:cNvPr>
          <p:cNvSpPr txBox="1"/>
          <p:nvPr/>
        </p:nvSpPr>
        <p:spPr>
          <a:xfrm>
            <a:off x="848423" y="3312764"/>
            <a:ext cx="30916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</a:rPr>
              <a:t>Children &amp; Parents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</a:rPr>
              <a:t>Schools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</a:rPr>
              <a:t>Pediatricians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</a:rPr>
              <a:t>Urban planners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Nunito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990811-CFAF-85B7-3D62-41990B2C7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375" y="2356627"/>
            <a:ext cx="3784004" cy="25216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967F409-1023-A688-7D16-1DECA3784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5042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6" name="Google Shape;346;p47"/>
          <p:cNvCxnSpPr>
            <a:cxnSpLocks/>
          </p:cNvCxnSpPr>
          <p:nvPr/>
        </p:nvCxnSpPr>
        <p:spPr>
          <a:xfrm>
            <a:off x="1010501" y="1688894"/>
            <a:ext cx="0" cy="674184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1" name="Google Shape;351;p47"/>
          <p:cNvSpPr/>
          <p:nvPr/>
        </p:nvSpPr>
        <p:spPr>
          <a:xfrm>
            <a:off x="1563255" y="1079464"/>
            <a:ext cx="2292885" cy="396000"/>
          </a:xfrm>
          <a:prstGeom prst="roundRect">
            <a:avLst>
              <a:gd name="adj" fmla="val 26301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47"/>
          <p:cNvSpPr/>
          <p:nvPr/>
        </p:nvSpPr>
        <p:spPr>
          <a:xfrm>
            <a:off x="1465223" y="2524548"/>
            <a:ext cx="3064388" cy="396000"/>
          </a:xfrm>
          <a:prstGeom prst="roundRect">
            <a:avLst>
              <a:gd name="adj" fmla="val 26301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47"/>
          <p:cNvSpPr/>
          <p:nvPr/>
        </p:nvSpPr>
        <p:spPr>
          <a:xfrm>
            <a:off x="1465223" y="3730752"/>
            <a:ext cx="2242447" cy="396000"/>
          </a:xfrm>
          <a:prstGeom prst="roundRect">
            <a:avLst>
              <a:gd name="adj" fmla="val 26301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7"/>
          <p:cNvSpPr txBox="1">
            <a:spLocks noGrp="1"/>
          </p:cNvSpPr>
          <p:nvPr>
            <p:ph type="title"/>
          </p:nvPr>
        </p:nvSpPr>
        <p:spPr>
          <a:xfrm>
            <a:off x="592493" y="267691"/>
            <a:ext cx="828599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Clinical Validation &amp; Measurable Impact</a:t>
            </a:r>
            <a:endParaRPr dirty="0"/>
          </a:p>
        </p:txBody>
      </p:sp>
      <p:sp>
        <p:nvSpPr>
          <p:cNvPr id="356" name="Google Shape;356;p47"/>
          <p:cNvSpPr txBox="1"/>
          <p:nvPr/>
        </p:nvSpPr>
        <p:spPr>
          <a:xfrm flipH="1">
            <a:off x="1434019" y="1120464"/>
            <a:ext cx="2484535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000" dirty="0">
                <a:solidFill>
                  <a:schemeClr val="bg1"/>
                </a:solidFill>
                <a:latin typeface="Titan One" panose="020B0604020202020204" charset="0"/>
              </a:rPr>
              <a:t>Validation Plan</a:t>
            </a:r>
            <a:endParaRPr sz="2000" dirty="0">
              <a:solidFill>
                <a:schemeClr val="bg1"/>
              </a:solidFill>
              <a:latin typeface="Titan One" panose="020B0604020202020204" charset="0"/>
              <a:ea typeface="Titan One"/>
              <a:cs typeface="Titan One"/>
              <a:sym typeface="Titan One"/>
            </a:endParaRPr>
          </a:p>
        </p:txBody>
      </p:sp>
      <p:sp>
        <p:nvSpPr>
          <p:cNvPr id="358" name="Google Shape;358;p47"/>
          <p:cNvSpPr txBox="1"/>
          <p:nvPr/>
        </p:nvSpPr>
        <p:spPr>
          <a:xfrm flipH="1">
            <a:off x="155055" y="1079464"/>
            <a:ext cx="14082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Titan One"/>
                <a:ea typeface="Titan One"/>
                <a:cs typeface="Titan One"/>
                <a:sym typeface="Titan One"/>
              </a:rPr>
              <a:t>Step 1</a:t>
            </a:r>
            <a:endParaRPr sz="2000" dirty="0">
              <a:solidFill>
                <a:schemeClr val="dk2"/>
              </a:solidFill>
              <a:latin typeface="Titan One"/>
              <a:ea typeface="Titan One"/>
              <a:cs typeface="Titan One"/>
              <a:sym typeface="Titan One"/>
            </a:endParaRPr>
          </a:p>
        </p:txBody>
      </p:sp>
      <p:sp>
        <p:nvSpPr>
          <p:cNvPr id="359" name="Google Shape;359;p47"/>
          <p:cNvSpPr txBox="1"/>
          <p:nvPr/>
        </p:nvSpPr>
        <p:spPr>
          <a:xfrm flipH="1">
            <a:off x="1522421" y="2519836"/>
            <a:ext cx="3064389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000" dirty="0">
                <a:solidFill>
                  <a:schemeClr val="bg1"/>
                </a:solidFill>
                <a:latin typeface="Titan One" panose="020B0604020202020204" charset="0"/>
              </a:rPr>
              <a:t>Expected Outcomes</a:t>
            </a:r>
            <a:endParaRPr sz="2000" dirty="0">
              <a:solidFill>
                <a:schemeClr val="bg1"/>
              </a:solidFill>
              <a:latin typeface="Titan One" panose="020B0604020202020204" charset="0"/>
              <a:ea typeface="Titan One"/>
              <a:cs typeface="Titan One"/>
              <a:sym typeface="Titan One"/>
            </a:endParaRPr>
          </a:p>
        </p:txBody>
      </p:sp>
      <p:sp>
        <p:nvSpPr>
          <p:cNvPr id="361" name="Google Shape;361;p47"/>
          <p:cNvSpPr txBox="1"/>
          <p:nvPr/>
        </p:nvSpPr>
        <p:spPr>
          <a:xfrm flipH="1">
            <a:off x="148580" y="2519836"/>
            <a:ext cx="14082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Titan One"/>
                <a:ea typeface="Titan One"/>
                <a:cs typeface="Titan One"/>
                <a:sym typeface="Titan One"/>
              </a:rPr>
              <a:t>Step 2</a:t>
            </a:r>
            <a:endParaRPr sz="2000" dirty="0">
              <a:solidFill>
                <a:schemeClr val="dk2"/>
              </a:solidFill>
              <a:latin typeface="Titan One"/>
              <a:ea typeface="Titan One"/>
              <a:cs typeface="Titan One"/>
              <a:sym typeface="Titan One"/>
            </a:endParaRPr>
          </a:p>
        </p:txBody>
      </p:sp>
      <p:sp>
        <p:nvSpPr>
          <p:cNvPr id="362" name="Google Shape;362;p47"/>
          <p:cNvSpPr txBox="1"/>
          <p:nvPr/>
        </p:nvSpPr>
        <p:spPr>
          <a:xfrm flipH="1">
            <a:off x="1340327" y="3800139"/>
            <a:ext cx="2367344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000" dirty="0">
                <a:solidFill>
                  <a:schemeClr val="bg1"/>
                </a:solidFill>
                <a:latin typeface="Titan One" panose="020B0604020202020204" charset="0"/>
              </a:rPr>
              <a:t>Impact Metrics</a:t>
            </a:r>
            <a:endParaRPr sz="2000" dirty="0">
              <a:solidFill>
                <a:schemeClr val="bg1"/>
              </a:solidFill>
              <a:latin typeface="Titan One" panose="020B0604020202020204" charset="0"/>
              <a:ea typeface="Titan One"/>
              <a:cs typeface="Titan One"/>
              <a:sym typeface="Titan One"/>
            </a:endParaRPr>
          </a:p>
        </p:txBody>
      </p:sp>
      <p:sp>
        <p:nvSpPr>
          <p:cNvPr id="364" name="Google Shape;364;p47"/>
          <p:cNvSpPr txBox="1"/>
          <p:nvPr/>
        </p:nvSpPr>
        <p:spPr>
          <a:xfrm flipH="1">
            <a:off x="114221" y="3861251"/>
            <a:ext cx="14082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Titan One"/>
                <a:ea typeface="Titan One"/>
                <a:cs typeface="Titan One"/>
                <a:sym typeface="Titan One"/>
              </a:rPr>
              <a:t>Step 3</a:t>
            </a:r>
            <a:endParaRPr sz="2000" dirty="0">
              <a:solidFill>
                <a:schemeClr val="dk2"/>
              </a:solidFill>
              <a:latin typeface="Titan One"/>
              <a:ea typeface="Titan One"/>
              <a:cs typeface="Titan One"/>
              <a:sym typeface="Titan One"/>
            </a:endParaRPr>
          </a:p>
        </p:txBody>
      </p:sp>
      <p:grpSp>
        <p:nvGrpSpPr>
          <p:cNvPr id="368" name="Google Shape;368;p47"/>
          <p:cNvGrpSpPr/>
          <p:nvPr/>
        </p:nvGrpSpPr>
        <p:grpSpPr>
          <a:xfrm>
            <a:off x="7193258" y="2649969"/>
            <a:ext cx="393962" cy="411461"/>
            <a:chOff x="3178064" y="2550425"/>
            <a:chExt cx="487336" cy="519850"/>
          </a:xfrm>
        </p:grpSpPr>
        <p:sp>
          <p:nvSpPr>
            <p:cNvPr id="369" name="Google Shape;369;p47"/>
            <p:cNvSpPr/>
            <p:nvPr/>
          </p:nvSpPr>
          <p:spPr>
            <a:xfrm>
              <a:off x="3299900" y="2550475"/>
              <a:ext cx="60925" cy="30500"/>
            </a:xfrm>
            <a:custGeom>
              <a:avLst/>
              <a:gdLst/>
              <a:ahLst/>
              <a:cxnLst/>
              <a:rect l="l" t="t" r="r" b="b"/>
              <a:pathLst>
                <a:path w="2437" h="1220" extrusionOk="0">
                  <a:moveTo>
                    <a:pt x="1" y="0"/>
                  </a:moveTo>
                  <a:lnTo>
                    <a:pt x="1" y="1219"/>
                  </a:lnTo>
                  <a:lnTo>
                    <a:pt x="2437" y="1219"/>
                  </a:lnTo>
                  <a:lnTo>
                    <a:pt x="243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7"/>
            <p:cNvSpPr/>
            <p:nvPr/>
          </p:nvSpPr>
          <p:spPr>
            <a:xfrm>
              <a:off x="3178064" y="2550425"/>
              <a:ext cx="304625" cy="519850"/>
            </a:xfrm>
            <a:custGeom>
              <a:avLst/>
              <a:gdLst/>
              <a:ahLst/>
              <a:cxnLst/>
              <a:rect l="l" t="t" r="r" b="b"/>
              <a:pathLst>
                <a:path w="12185" h="20794" extrusionOk="0">
                  <a:moveTo>
                    <a:pt x="10361" y="1"/>
                  </a:moveTo>
                  <a:cubicBezTo>
                    <a:pt x="10360" y="1"/>
                    <a:pt x="10358" y="1"/>
                    <a:pt x="10357" y="1"/>
                  </a:cubicBezTo>
                  <a:lnTo>
                    <a:pt x="8530" y="1"/>
                  </a:lnTo>
                  <a:lnTo>
                    <a:pt x="8530" y="2437"/>
                  </a:lnTo>
                  <a:lnTo>
                    <a:pt x="3657" y="2437"/>
                  </a:lnTo>
                  <a:lnTo>
                    <a:pt x="3657" y="2"/>
                  </a:lnTo>
                  <a:lnTo>
                    <a:pt x="1830" y="2"/>
                  </a:lnTo>
                  <a:cubicBezTo>
                    <a:pt x="1829" y="2"/>
                    <a:pt x="1828" y="2"/>
                    <a:pt x="1827" y="2"/>
                  </a:cubicBezTo>
                  <a:cubicBezTo>
                    <a:pt x="818" y="2"/>
                    <a:pt x="1" y="821"/>
                    <a:pt x="2" y="1830"/>
                  </a:cubicBezTo>
                  <a:lnTo>
                    <a:pt x="2" y="18966"/>
                  </a:lnTo>
                  <a:cubicBezTo>
                    <a:pt x="1" y="19975"/>
                    <a:pt x="818" y="20794"/>
                    <a:pt x="1827" y="20794"/>
                  </a:cubicBezTo>
                  <a:cubicBezTo>
                    <a:pt x="1828" y="20794"/>
                    <a:pt x="1829" y="20794"/>
                    <a:pt x="1830" y="20794"/>
                  </a:cubicBezTo>
                  <a:lnTo>
                    <a:pt x="10357" y="20794"/>
                  </a:lnTo>
                  <a:cubicBezTo>
                    <a:pt x="10358" y="20794"/>
                    <a:pt x="10360" y="20794"/>
                    <a:pt x="10361" y="20794"/>
                  </a:cubicBezTo>
                  <a:cubicBezTo>
                    <a:pt x="11368" y="20794"/>
                    <a:pt x="12185" y="19975"/>
                    <a:pt x="12185" y="18968"/>
                  </a:cubicBezTo>
                  <a:lnTo>
                    <a:pt x="12185" y="17099"/>
                  </a:lnTo>
                  <a:lnTo>
                    <a:pt x="8530" y="17099"/>
                  </a:lnTo>
                  <a:cubicBezTo>
                    <a:pt x="6847" y="17099"/>
                    <a:pt x="5485" y="15735"/>
                    <a:pt x="5485" y="14052"/>
                  </a:cubicBezTo>
                  <a:lnTo>
                    <a:pt x="5485" y="13385"/>
                  </a:lnTo>
                  <a:cubicBezTo>
                    <a:pt x="3754" y="13104"/>
                    <a:pt x="2438" y="11594"/>
                    <a:pt x="2438" y="9790"/>
                  </a:cubicBezTo>
                  <a:lnTo>
                    <a:pt x="2438" y="6135"/>
                  </a:lnTo>
                  <a:lnTo>
                    <a:pt x="4875" y="6135"/>
                  </a:lnTo>
                  <a:lnTo>
                    <a:pt x="4875" y="7352"/>
                  </a:lnTo>
                  <a:lnTo>
                    <a:pt x="3657" y="7352"/>
                  </a:lnTo>
                  <a:lnTo>
                    <a:pt x="3657" y="9789"/>
                  </a:lnTo>
                  <a:cubicBezTo>
                    <a:pt x="3657" y="11128"/>
                    <a:pt x="4752" y="12225"/>
                    <a:pt x="6094" y="12225"/>
                  </a:cubicBezTo>
                  <a:cubicBezTo>
                    <a:pt x="7433" y="12225"/>
                    <a:pt x="8530" y="11128"/>
                    <a:pt x="8530" y="9789"/>
                  </a:cubicBezTo>
                  <a:lnTo>
                    <a:pt x="8530" y="7352"/>
                  </a:lnTo>
                  <a:lnTo>
                    <a:pt x="7311" y="7352"/>
                  </a:lnTo>
                  <a:lnTo>
                    <a:pt x="7311" y="6135"/>
                  </a:lnTo>
                  <a:lnTo>
                    <a:pt x="9747" y="6135"/>
                  </a:lnTo>
                  <a:lnTo>
                    <a:pt x="9747" y="9790"/>
                  </a:lnTo>
                  <a:cubicBezTo>
                    <a:pt x="9747" y="11592"/>
                    <a:pt x="8432" y="13102"/>
                    <a:pt x="6702" y="13383"/>
                  </a:cubicBezTo>
                  <a:lnTo>
                    <a:pt x="6702" y="14052"/>
                  </a:lnTo>
                  <a:cubicBezTo>
                    <a:pt x="6701" y="15062"/>
                    <a:pt x="7518" y="15880"/>
                    <a:pt x="8527" y="15880"/>
                  </a:cubicBezTo>
                  <a:cubicBezTo>
                    <a:pt x="8528" y="15880"/>
                    <a:pt x="8529" y="15880"/>
                    <a:pt x="8530" y="15880"/>
                  </a:cubicBezTo>
                  <a:lnTo>
                    <a:pt x="12185" y="15880"/>
                  </a:lnTo>
                  <a:lnTo>
                    <a:pt x="12185" y="1828"/>
                  </a:lnTo>
                  <a:cubicBezTo>
                    <a:pt x="12185" y="819"/>
                    <a:pt x="11368" y="1"/>
                    <a:pt x="1036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7"/>
            <p:cNvSpPr/>
            <p:nvPr/>
          </p:nvSpPr>
          <p:spPr>
            <a:xfrm>
              <a:off x="3482650" y="2703800"/>
              <a:ext cx="182750" cy="274100"/>
            </a:xfrm>
            <a:custGeom>
              <a:avLst/>
              <a:gdLst/>
              <a:ahLst/>
              <a:cxnLst/>
              <a:rect l="l" t="t" r="r" b="b"/>
              <a:pathLst>
                <a:path w="7310" h="10964" extrusionOk="0">
                  <a:moveTo>
                    <a:pt x="4873" y="2436"/>
                  </a:moveTo>
                  <a:lnTo>
                    <a:pt x="4873" y="3655"/>
                  </a:lnTo>
                  <a:lnTo>
                    <a:pt x="3654" y="3655"/>
                  </a:lnTo>
                  <a:lnTo>
                    <a:pt x="3654" y="2436"/>
                  </a:lnTo>
                  <a:close/>
                  <a:moveTo>
                    <a:pt x="4265" y="0"/>
                  </a:moveTo>
                  <a:cubicBezTo>
                    <a:pt x="2585" y="0"/>
                    <a:pt x="1218" y="1366"/>
                    <a:pt x="1218" y="3045"/>
                  </a:cubicBezTo>
                  <a:cubicBezTo>
                    <a:pt x="1218" y="4516"/>
                    <a:pt x="2266" y="5747"/>
                    <a:pt x="3654" y="6029"/>
                  </a:cubicBezTo>
                  <a:lnTo>
                    <a:pt x="3654" y="7917"/>
                  </a:lnTo>
                  <a:cubicBezTo>
                    <a:pt x="3656" y="8927"/>
                    <a:pt x="2839" y="9745"/>
                    <a:pt x="1832" y="9745"/>
                  </a:cubicBezTo>
                  <a:cubicBezTo>
                    <a:pt x="1831" y="9745"/>
                    <a:pt x="1830" y="9745"/>
                    <a:pt x="1829" y="9745"/>
                  </a:cubicBezTo>
                  <a:lnTo>
                    <a:pt x="1" y="9745"/>
                  </a:lnTo>
                  <a:lnTo>
                    <a:pt x="1" y="10964"/>
                  </a:lnTo>
                  <a:lnTo>
                    <a:pt x="1829" y="10964"/>
                  </a:lnTo>
                  <a:cubicBezTo>
                    <a:pt x="3510" y="10964"/>
                    <a:pt x="4873" y="9600"/>
                    <a:pt x="4873" y="7917"/>
                  </a:cubicBezTo>
                  <a:lnTo>
                    <a:pt x="4873" y="6029"/>
                  </a:lnTo>
                  <a:cubicBezTo>
                    <a:pt x="6261" y="5747"/>
                    <a:pt x="7310" y="4516"/>
                    <a:pt x="7310" y="3045"/>
                  </a:cubicBezTo>
                  <a:cubicBezTo>
                    <a:pt x="7310" y="1366"/>
                    <a:pt x="5944" y="0"/>
                    <a:pt x="42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88" name="Google Shape;388;p47"/>
          <p:cNvCxnSpPr>
            <a:cxnSpLocks/>
          </p:cNvCxnSpPr>
          <p:nvPr/>
        </p:nvCxnSpPr>
        <p:spPr>
          <a:xfrm>
            <a:off x="501855" y="2956822"/>
            <a:ext cx="7146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89" name="Google Shape;389;p47"/>
          <p:cNvCxnSpPr>
            <a:cxnSpLocks/>
          </p:cNvCxnSpPr>
          <p:nvPr/>
        </p:nvCxnSpPr>
        <p:spPr>
          <a:xfrm>
            <a:off x="7713852" y="2855700"/>
            <a:ext cx="7116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90" name="Google Shape;390;p47"/>
          <p:cNvCxnSpPr>
            <a:cxnSpLocks/>
          </p:cNvCxnSpPr>
          <p:nvPr/>
        </p:nvCxnSpPr>
        <p:spPr>
          <a:xfrm>
            <a:off x="955548" y="3064478"/>
            <a:ext cx="0" cy="666274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Rectangle 2">
            <a:extLst>
              <a:ext uri="{FF2B5EF4-FFF2-40B4-BE49-F238E27FC236}">
                <a16:creationId xmlns:a16="http://schemas.microsoft.com/office/drawing/2014/main" id="{1226D489-8B7C-20BF-666A-A24CB4AAC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5376" y="1022514"/>
            <a:ext cx="463640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Longitudinal study (1000+ children, 1–2 years)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Comparison of predicted vs actual respiratory events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unito" pitchFamily="2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E6F2904-A823-CFC8-B8C5-29FBE3ECD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6809" y="2349994"/>
            <a:ext cx="396989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30% reduction in respiratory infections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25–40% fewer hospital visits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99.5% system reliability</a:t>
            </a:r>
          </a:p>
        </p:txBody>
      </p:sp>
      <p:pic>
        <p:nvPicPr>
          <p:cNvPr id="11" name="Google Shape;322;p44" title="Chart">
            <a:hlinkClick r:id="rId3"/>
            <a:extLst>
              <a:ext uri="{FF2B5EF4-FFF2-40B4-BE49-F238E27FC236}">
                <a16:creationId xmlns:a16="http://schemas.microsoft.com/office/drawing/2014/main" id="{C75AC7B2-C778-24DD-D839-3541E1D68C3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b="10182"/>
          <a:stretch>
            <a:fillRect/>
          </a:stretch>
        </p:blipFill>
        <p:spPr>
          <a:xfrm>
            <a:off x="3795400" y="3074255"/>
            <a:ext cx="4290885" cy="1505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FD81385-7578-1785-53EA-A863990D5A78}"/>
              </a:ext>
            </a:extLst>
          </p:cNvPr>
          <p:cNvSpPr txBox="1"/>
          <p:nvPr/>
        </p:nvSpPr>
        <p:spPr>
          <a:xfrm>
            <a:off x="5726808" y="4646235"/>
            <a:ext cx="18995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latin typeface="Nunito" pitchFamily="2" charset="0"/>
              </a:rPr>
              <a:t>Health </a:t>
            </a:r>
          </a:p>
          <a:p>
            <a:r>
              <a:rPr lang="en-IN" sz="1000" dirty="0">
                <a:latin typeface="Nunito" pitchFamily="2" charset="0"/>
              </a:rPr>
              <a:t>improvement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6AEB25-952C-0C37-F75B-4BF993B70578}"/>
              </a:ext>
            </a:extLst>
          </p:cNvPr>
          <p:cNvSpPr txBox="1"/>
          <p:nvPr/>
        </p:nvSpPr>
        <p:spPr>
          <a:xfrm>
            <a:off x="4572000" y="4579793"/>
            <a:ext cx="13651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Policy </a:t>
            </a:r>
          </a:p>
          <a:p>
            <a:r>
              <a:rPr lang="en-IN" sz="1000" dirty="0">
                <a:latin typeface="Nunito" pitchFamily="2" charset="0"/>
              </a:rPr>
              <a:t>recommendations</a:t>
            </a:r>
          </a:p>
          <a:p>
            <a:r>
              <a:rPr lang="en-IN" sz="1000" dirty="0"/>
              <a:t>produced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DB0A40-2B28-ED25-8704-8A2768116946}"/>
              </a:ext>
            </a:extLst>
          </p:cNvPr>
          <p:cNvSpPr txBox="1"/>
          <p:nvPr/>
        </p:nvSpPr>
        <p:spPr>
          <a:xfrm>
            <a:off x="6676578" y="4656737"/>
            <a:ext cx="48402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latin typeface="Nunito" pitchFamily="2" charset="0"/>
              </a:rPr>
              <a:t>Papers published </a:t>
            </a:r>
          </a:p>
          <a:p>
            <a:r>
              <a:rPr lang="en-IN" sz="1000" dirty="0">
                <a:latin typeface="Nunito" pitchFamily="2" charset="0"/>
              </a:rPr>
              <a:t>/ datasets released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1BBE95-830C-C2EF-FF1A-F40377894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5042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4E376C-D5A3-5540-AD85-EB2C440D5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698" y="1220743"/>
            <a:ext cx="2390706" cy="3587460"/>
          </a:xfrm>
          <a:prstGeom prst="rect">
            <a:avLst/>
          </a:prstGeom>
        </p:spPr>
      </p:pic>
      <p:sp>
        <p:nvSpPr>
          <p:cNvPr id="339" name="Google Shape;339;p46"/>
          <p:cNvSpPr txBox="1">
            <a:spLocks noGrp="1"/>
          </p:cNvSpPr>
          <p:nvPr>
            <p:ph type="title"/>
          </p:nvPr>
        </p:nvSpPr>
        <p:spPr>
          <a:xfrm>
            <a:off x="1773775" y="440905"/>
            <a:ext cx="6388615" cy="8987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Scaling for Sustainable Urban Health Futures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CA4329-D040-9636-0CEF-1905E25F6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9529"/>
              </p:ext>
            </p:extLst>
          </p:nvPr>
        </p:nvGraphicFramePr>
        <p:xfrm>
          <a:off x="505522" y="1889607"/>
          <a:ext cx="6005004" cy="3069092"/>
        </p:xfrm>
        <a:graphic>
          <a:graphicData uri="http://schemas.openxmlformats.org/drawingml/2006/table">
            <a:tbl>
              <a:tblPr>
                <a:noFill/>
                <a:tableStyleId>{1BA43162-0D46-4221-906E-57172930C324}</a:tableStyleId>
              </a:tblPr>
              <a:tblGrid>
                <a:gridCol w="1747024">
                  <a:extLst>
                    <a:ext uri="{9D8B030D-6E8A-4147-A177-3AD203B41FA5}">
                      <a16:colId xmlns:a16="http://schemas.microsoft.com/office/drawing/2014/main" val="777837350"/>
                    </a:ext>
                  </a:extLst>
                </a:gridCol>
                <a:gridCol w="4257980">
                  <a:extLst>
                    <a:ext uri="{9D8B030D-6E8A-4147-A177-3AD203B41FA5}">
                      <a16:colId xmlns:a16="http://schemas.microsoft.com/office/drawing/2014/main" val="1421295497"/>
                    </a:ext>
                  </a:extLst>
                </a:gridCol>
              </a:tblGrid>
              <a:tr h="60221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lt1"/>
                          </a:solidFill>
                          <a:latin typeface="Titan One"/>
                          <a:ea typeface="Titan One"/>
                          <a:cs typeface="Titan One"/>
                          <a:sym typeface="Titan One"/>
                        </a:rPr>
                        <a:t>Category</a:t>
                      </a:r>
                      <a:endParaRPr sz="1100" dirty="0">
                        <a:solidFill>
                          <a:schemeClr val="lt1"/>
                        </a:solidFill>
                        <a:latin typeface="Titan One"/>
                        <a:ea typeface="Titan One"/>
                        <a:cs typeface="Titan One"/>
                        <a:sym typeface="Tita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tan One"/>
                          <a:ea typeface="Titan One"/>
                          <a:cs typeface="Titan One"/>
                          <a:sym typeface="Titan One"/>
                        </a:rPr>
                        <a:t>Description</a:t>
                      </a:r>
                      <a:endParaRPr sz="1100">
                        <a:solidFill>
                          <a:schemeClr val="lt1"/>
                        </a:solidFill>
                        <a:latin typeface="Titan One"/>
                        <a:ea typeface="Titan One"/>
                        <a:cs typeface="Titan One"/>
                        <a:sym typeface="Tita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617714"/>
                  </a:ext>
                </a:extLst>
              </a:tr>
              <a:tr h="110495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tan One" panose="020B0604020202020204" charset="0"/>
                        </a:rPr>
                        <a:t>Policy Integration</a:t>
                      </a:r>
                      <a:endParaRPr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tan One" panose="020B0604020202020204" charset="0"/>
                        <a:ea typeface="Titan One"/>
                        <a:cs typeface="Titan One"/>
                        <a:sym typeface="Tita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D52">
                        <a:alpha val="348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Nunito" pitchFamily="2" charset="0"/>
                        </a:rPr>
                        <a:t>Data-driven urban planning insights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Nunito" pitchFamily="2" charset="0"/>
                        </a:rPr>
                        <a:t>School air-quality management protocols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Nunito" pitchFamily="2" charset="0"/>
                        </a:rPr>
                        <a:t>Evidence-based recommendations for local governments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D52">
                        <a:alpha val="348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411301"/>
                  </a:ext>
                </a:extLst>
              </a:tr>
              <a:tr h="46105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tan One" panose="020B0604020202020204" charset="0"/>
                        </a:rPr>
                        <a:t>Future Outlook</a:t>
                      </a:r>
                      <a:endParaRPr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tan One" panose="020B0604020202020204" charset="0"/>
                        <a:ea typeface="Titan One"/>
                        <a:cs typeface="Titan One"/>
                        <a:sym typeface="Tita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D52">
                        <a:alpha val="348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Nunito" pitchFamily="2" charset="0"/>
                        </a:rPr>
                        <a:t>National-level scale-up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Nunito" pitchFamily="2" charset="0"/>
                        </a:rPr>
                        <a:t>Integration with WHO’s Urban Health Index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Nunito" pitchFamily="2" charset="0"/>
                        </a:rPr>
                        <a:t>Community awareness ecosystem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D52">
                        <a:alpha val="348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470754"/>
                  </a:ext>
                </a:extLst>
              </a:tr>
              <a:tr h="53898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tan One" panose="020B0604020202020204" charset="0"/>
                        </a:rPr>
                        <a:t>Closing Message</a:t>
                      </a:r>
                      <a:endParaRPr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tan One" panose="020B0604020202020204" charset="0"/>
                        <a:ea typeface="Titan One"/>
                        <a:cs typeface="Titan One"/>
                        <a:sym typeface="Tita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D52">
                        <a:alpha val="348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Nunito" pitchFamily="2" charset="0"/>
                        </a:rPr>
                        <a:t>“AI isn’t just predicting illness — it’s preventing it.”</a:t>
                      </a:r>
                      <a:endParaRPr sz="1400" dirty="0">
                        <a:solidFill>
                          <a:schemeClr val="bg1"/>
                        </a:solidFill>
                        <a:latin typeface="Nunito" pitchFamily="2" charset="0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D52">
                        <a:alpha val="348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841422"/>
                  </a:ext>
                </a:extLst>
              </a:tr>
            </a:tbl>
          </a:graphicData>
        </a:graphic>
      </p:graphicFrame>
      <p:sp>
        <p:nvSpPr>
          <p:cNvPr id="338" name="Google Shape;338;p46"/>
          <p:cNvSpPr/>
          <p:nvPr/>
        </p:nvSpPr>
        <p:spPr>
          <a:xfrm flipH="1">
            <a:off x="161221" y="1859136"/>
            <a:ext cx="1536600" cy="215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41" name="Google Shape;34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80122" y="123154"/>
            <a:ext cx="942368" cy="1843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10925C-6CC8-0CE9-DC97-CC02594AD0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5042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/>
          <p:nvPr/>
        </p:nvSpPr>
        <p:spPr>
          <a:xfrm flipH="1">
            <a:off x="713213" y="4516325"/>
            <a:ext cx="1536600" cy="215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4" name="Google Shape;27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950" y="764100"/>
            <a:ext cx="1158225" cy="384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2"/>
          <p:cNvSpPr txBox="1">
            <a:spLocks noGrp="1"/>
          </p:cNvSpPr>
          <p:nvPr>
            <p:ph type="title"/>
          </p:nvPr>
        </p:nvSpPr>
        <p:spPr>
          <a:xfrm>
            <a:off x="78574" y="0"/>
            <a:ext cx="10041666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dirty="0"/>
              <a:t>The Core Challenge:</a:t>
            </a:r>
            <a:endParaRPr dirty="0"/>
          </a:p>
        </p:txBody>
      </p:sp>
      <p:pic>
        <p:nvPicPr>
          <p:cNvPr id="277" name="Google Shape;27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67856" y="28926"/>
            <a:ext cx="2322176" cy="6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3585" y="764100"/>
            <a:ext cx="634174" cy="6933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5A275C-0F0E-8633-31E7-24E283465D6A}"/>
              </a:ext>
            </a:extLst>
          </p:cNvPr>
          <p:cNvSpPr txBox="1"/>
          <p:nvPr/>
        </p:nvSpPr>
        <p:spPr>
          <a:xfrm>
            <a:off x="3895344" y="873945"/>
            <a:ext cx="50840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  <a:latin typeface="Titan One" panose="020B0604020202020204" charset="0"/>
              </a:rPr>
              <a:t>Building a Sustainable India</a:t>
            </a:r>
            <a:endParaRPr lang="en-IN" sz="2000" dirty="0">
              <a:solidFill>
                <a:schemeClr val="bg2"/>
              </a:solidFill>
              <a:latin typeface="Titan One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5298A-00E7-41E2-C644-BC53E81DA926}"/>
              </a:ext>
            </a:extLst>
          </p:cNvPr>
          <p:cNvSpPr txBox="1"/>
          <p:nvPr/>
        </p:nvSpPr>
        <p:spPr>
          <a:xfrm>
            <a:off x="2474976" y="1588349"/>
            <a:ext cx="5084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60000"/>
                    <a:lumOff val="40000"/>
                  </a:schemeClr>
                </a:solidFill>
                <a:latin typeface="Titan One" panose="020B0604020202020204" charset="0"/>
              </a:rPr>
              <a:t>Main Target :-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39D002-0C0A-1F84-5583-E3245064C1DB}"/>
              </a:ext>
            </a:extLst>
          </p:cNvPr>
          <p:cNvSpPr txBox="1"/>
          <p:nvPr/>
        </p:nvSpPr>
        <p:spPr>
          <a:xfrm>
            <a:off x="3369425" y="1896126"/>
            <a:ext cx="57745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75000"/>
                  </a:schemeClr>
                </a:solidFill>
                <a:latin typeface="Aptos Display" panose="020B0004020202020204" pitchFamily="34" charset="0"/>
              </a:rPr>
              <a:t>To develop smarter, greener, and more resilient cities and villages across India.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FB6499-D9FA-3CA6-8C12-2E2541C7D4F9}"/>
              </a:ext>
            </a:extLst>
          </p:cNvPr>
          <p:cNvSpPr txBox="1"/>
          <p:nvPr/>
        </p:nvSpPr>
        <p:spPr>
          <a:xfrm>
            <a:off x="2363585" y="2424680"/>
            <a:ext cx="5084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4">
                    <a:lumMod val="50000"/>
                  </a:schemeClr>
                </a:solidFill>
                <a:latin typeface="Titan One" panose="020B0604020202020204" charset="0"/>
              </a:rPr>
              <a:t>We must solve: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0F2651-48EE-1920-8BA0-6888547C9437}"/>
              </a:ext>
            </a:extLst>
          </p:cNvPr>
          <p:cNvSpPr txBox="1"/>
          <p:nvPr/>
        </p:nvSpPr>
        <p:spPr>
          <a:xfrm>
            <a:off x="3346723" y="2767909"/>
            <a:ext cx="50840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Nunito" pitchFamily="2" charset="0"/>
              </a:rPr>
              <a:t>Unplanned growth causing pollution and overcrowding.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Nunito" pitchFamily="2" charset="0"/>
              </a:rPr>
              <a:t>Lack of green spaces making areas hotter and less healthy.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Nunito" pitchFamily="2" charset="0"/>
              </a:rPr>
              <a:t>Poor resource management leading to water and energy waste.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Nunito" pitchFamily="2" charset="0"/>
              </a:rPr>
              <a:t>Vulnerability to climate change in both urban and rural areas.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Nunito" pitchFamily="2" charset="0"/>
              </a:rPr>
              <a:t>The ultimate goal is to create communities that are sustainable, healthy, and prepared for the future.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676E61-C82B-A001-D900-45122C43D8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5042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>
            <a:spLocks noGrp="1"/>
          </p:cNvSpPr>
          <p:nvPr>
            <p:ph type="title"/>
          </p:nvPr>
        </p:nvSpPr>
        <p:spPr>
          <a:xfrm>
            <a:off x="2653402" y="2165125"/>
            <a:ext cx="2322177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dirty="0"/>
              <a:t>Thank You</a:t>
            </a:r>
            <a:endParaRPr dirty="0"/>
          </a:p>
        </p:txBody>
      </p:sp>
      <p:pic>
        <p:nvPicPr>
          <p:cNvPr id="277" name="Google Shape;27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867856" y="28926"/>
            <a:ext cx="2322176" cy="6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5B0806-DFEF-8D93-3735-F266E99E0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50427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ediatric Clinical Center by Slidesgo">
  <a:themeElements>
    <a:clrScheme name="Simple Light">
      <a:dk1>
        <a:srgbClr val="4C3D35"/>
      </a:dk1>
      <a:lt1>
        <a:srgbClr val="915D5D"/>
      </a:lt1>
      <a:dk2>
        <a:srgbClr val="E06DA2"/>
      </a:dk2>
      <a:lt2>
        <a:srgbClr val="E22D80"/>
      </a:lt2>
      <a:accent1>
        <a:srgbClr val="A16DBC"/>
      </a:accent1>
      <a:accent2>
        <a:srgbClr val="D5AEE7"/>
      </a:accent2>
      <a:accent3>
        <a:srgbClr val="A2DBDB"/>
      </a:accent3>
      <a:accent4>
        <a:srgbClr val="CAEFEE"/>
      </a:accent4>
      <a:accent5>
        <a:srgbClr val="FFBD52"/>
      </a:accent5>
      <a:accent6>
        <a:srgbClr val="FFFBEB"/>
      </a:accent6>
      <a:hlink>
        <a:srgbClr val="4C3D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510</Words>
  <Application>Microsoft Office PowerPoint</Application>
  <PresentationFormat>On-screen Show (16:9)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 Display</vt:lpstr>
      <vt:lpstr>Fira Sans Condensed Medium</vt:lpstr>
      <vt:lpstr>Fira Sans Extra Condensed Medium</vt:lpstr>
      <vt:lpstr>Nunito</vt:lpstr>
      <vt:lpstr>Titan One</vt:lpstr>
      <vt:lpstr>Wingdings</vt:lpstr>
      <vt:lpstr>Times New Roman</vt:lpstr>
      <vt:lpstr>Arial</vt:lpstr>
      <vt:lpstr>Pediatric Clinical Center by Slidesgo</vt:lpstr>
      <vt:lpstr>AI-Mitigated Child Health</vt:lpstr>
      <vt:lpstr>“The Growing Threat:                                            </vt:lpstr>
      <vt:lpstr>Project Vision &amp; Strategic Objectives</vt:lpstr>
      <vt:lpstr>Pipeline</vt:lpstr>
      <vt:lpstr>AI-Powered Predictive Analytics for Pediatric Health</vt:lpstr>
      <vt:lpstr>Turning Predictions into Protection</vt:lpstr>
      <vt:lpstr>Clinical Validation &amp; Measurable Impact</vt:lpstr>
      <vt:lpstr>Scaling for Sustainable Urban Health Futures</vt:lpstr>
      <vt:lpstr>The Core Challenge: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GANIREDDY UMESH</dc:creator>
  <cp:lastModifiedBy>Praveen Kumar Ramagiri</cp:lastModifiedBy>
  <cp:revision>17</cp:revision>
  <dcterms:modified xsi:type="dcterms:W3CDTF">2025-10-25T13:18:11Z</dcterms:modified>
</cp:coreProperties>
</file>