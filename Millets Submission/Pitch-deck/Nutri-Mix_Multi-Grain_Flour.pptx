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15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D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A44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914400"/>
            <a:ext cx="57607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868680"/>
            <a:ext cx="5852160" cy="3840480"/>
          </a:xfrm>
          <a:prstGeom prst="rect">
            <a:avLst/>
          </a:prstGeom>
          <a:ln w="25400">
            <a:solidFill>
              <a:srgbClr val="3B2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144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Nutri-Mix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B2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Multi-Grain Flour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02920" y="2788920"/>
            <a:ext cx="274320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  +  Bajra  +  Maize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10896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7033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nutrient-dense, economical flour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 &amp; livelihood.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2920" y="5095631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 smtClean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by  </a:t>
            </a:r>
          </a:p>
          <a:p>
            <a:pPr marL="0" indent="0">
              <a:buNone/>
            </a:pPr>
            <a:r>
              <a:rPr lang="en-US" sz="1300" i="1" dirty="0" smtClean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</a:t>
            </a:r>
            <a:r>
              <a:rPr lang="en-US" sz="1300" i="1" dirty="0" err="1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300" i="1" dirty="0" err="1" smtClean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azak</a:t>
            </a:r>
            <a:r>
              <a:rPr lang="en-US" sz="1300" i="1" dirty="0" smtClean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(B. Tech)</a:t>
            </a:r>
          </a:p>
          <a:p>
            <a:pPr marL="0" indent="0">
              <a:buNone/>
            </a:pPr>
            <a:r>
              <a:rPr lang="en-US" sz="1300" i="1" dirty="0" smtClean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lang="en-US" sz="1300" i="1" dirty="0" err="1" smtClean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tejaswini</a:t>
            </a:r>
            <a:r>
              <a:rPr lang="en-US" sz="1300" i="1" dirty="0" smtClean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(PhD Scholar-Foods &amp; Nutrition)</a:t>
            </a:r>
          </a:p>
          <a:p>
            <a:pPr marL="0" indent="0">
              <a:buNone/>
            </a:pPr>
            <a:r>
              <a:rPr lang="en-US" sz="1300" i="1" dirty="0" smtClean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</a:t>
            </a:r>
            <a:r>
              <a:rPr lang="en-US" sz="1300" i="1" dirty="0" err="1" smtClean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Ramagiri</a:t>
            </a:r>
            <a:r>
              <a:rPr lang="en-US" sz="1300" i="1" dirty="0" smtClean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Praveen Kumar(Associate professor)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2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Why a Multi-Grain Flour?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61288"/>
            <a:ext cx="146304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diseases are rising  — diabetes, anaemia, weak bones.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grains lack complete nutrition.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→ blend </a:t>
            </a: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 (Calcium) + Bajra (Protein &amp; Iron) + Maize (Energy &amp; Fibre)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2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Key benefits of the 50 : 30 : 20 blend (per 100 g)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3749040"/>
            <a:ext cx="1508760" cy="1417320"/>
          </a:xfrm>
          <a:prstGeom prst="rect">
            <a:avLst/>
          </a:prstGeom>
          <a:solidFill>
            <a:srgbClr val="FFE0B5"/>
          </a:solidFill>
          <a:ln w="12700">
            <a:solidFill>
              <a:srgbClr val="C9B68F"/>
            </a:solidFill>
            <a:prstDash val="solid"/>
          </a:ln>
          <a:effectLst>
            <a:outerShdw blurRad="76200" dist="254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840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strength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42062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186 mg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47091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30552" y="3749040"/>
            <a:ext cx="1508760" cy="1417320"/>
          </a:xfrm>
          <a:prstGeom prst="rect">
            <a:avLst/>
          </a:prstGeom>
          <a:solidFill>
            <a:srgbClr val="E2EFD9"/>
          </a:solidFill>
          <a:ln w="12700">
            <a:solidFill>
              <a:srgbClr val="C9B68F"/>
            </a:solidFill>
            <a:prstDash val="solid"/>
          </a:ln>
          <a:effectLst>
            <a:outerShdw blurRad="76200" dist="254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21992" y="3840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21992" y="42062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9.4 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221992" y="47091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58184" y="3749040"/>
            <a:ext cx="1508760" cy="1417320"/>
          </a:xfrm>
          <a:prstGeom prst="rect">
            <a:avLst/>
          </a:prstGeom>
          <a:solidFill>
            <a:srgbClr val="FCE0DC"/>
          </a:solidFill>
          <a:ln w="12700">
            <a:solidFill>
              <a:srgbClr val="C9B68F"/>
            </a:solidFill>
            <a:prstDash val="solid"/>
          </a:ln>
          <a:effectLst>
            <a:outerShdw blurRad="76200" dist="254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9624" y="3840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Digestive health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9624" y="42062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2.7 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49624" y="47091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85816" y="3749040"/>
            <a:ext cx="1508760" cy="1417320"/>
          </a:xfrm>
          <a:prstGeom prst="rect">
            <a:avLst/>
          </a:prstGeom>
          <a:solidFill>
            <a:srgbClr val="F4E2B7"/>
          </a:solidFill>
          <a:ln w="12700">
            <a:solidFill>
              <a:srgbClr val="C9B68F"/>
            </a:solidFill>
            <a:prstDash val="solid"/>
          </a:ln>
          <a:effectLst>
            <a:outerShdw blurRad="76200" dist="254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77256" y="3840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Anaemia care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77256" y="42062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4.8 mg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77256" y="47091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</a:t>
            </a:r>
            <a:endParaRPr lang="en-US" sz="11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0" y="1371600"/>
            <a:ext cx="4480560" cy="292608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269480" y="1325880"/>
            <a:ext cx="4572000" cy="3017520"/>
          </a:xfrm>
          <a:prstGeom prst="rect">
            <a:avLst/>
          </a:prstGeom>
          <a:ln w="25400">
            <a:solidFill>
              <a:srgbClr val="3B2A1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0" y="4434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A7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one flour →  many meals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595360" y="5074920"/>
            <a:ext cx="2011680" cy="777240"/>
          </a:xfrm>
          <a:prstGeom prst="ellipse">
            <a:avLst/>
          </a:prstGeom>
          <a:ln w="38100">
            <a:solidFill>
              <a:srgbClr val="C039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595360" y="5120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50 : 30 : 20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Nutri-Mix  •  Ragi + Bajra + Maize  (50:30:20)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24712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2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Team Details  (Manpower)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61288"/>
            <a:ext cx="146304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6858000" cy="15087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Responsibility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Person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 selection, grinding process, quality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Non-technical (Labour)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Cleaning, drying, packaging, labeling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4023360"/>
            <a:ext cx="3291840" cy="1188720"/>
          </a:xfrm>
          <a:prstGeom prst="rect">
            <a:avLst/>
          </a:prstGeom>
          <a:solidFill>
            <a:srgbClr val="FFE9A8"/>
          </a:solidFill>
          <a:ln w="12700">
            <a:solidFill>
              <a:srgbClr val="E0C97A"/>
            </a:solidFill>
            <a:prstDash val="solid"/>
          </a:ln>
          <a:effectLst>
            <a:outerShdw blurRad="76200" dist="25400" dir="2700000" algn="bl" rotWithShape="0">
              <a:srgbClr val="C9B68F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41148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40690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2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Total team size: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3B2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 people per SHG unit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023360" y="4023360"/>
            <a:ext cx="3291840" cy="1188720"/>
          </a:xfrm>
          <a:prstGeom prst="rect">
            <a:avLst/>
          </a:prstGeom>
          <a:solidFill>
            <a:srgbClr val="E2EFD9"/>
          </a:solidFill>
          <a:ln w="12700">
            <a:solidFill>
              <a:srgbClr val="E0C97A"/>
            </a:solidFill>
            <a:prstDash val="solid"/>
          </a:ln>
          <a:effectLst>
            <a:outerShdw blurRad="76200" dist="25400" dir="2700000" algn="bl" rotWithShape="0">
              <a:srgbClr val="C9B68F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60520" y="41148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0" y="40690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6D3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Training required: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4F6D3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 days  (mill + hygiene)</a:t>
            </a:r>
            <a:endParaRPr lang="en-US" sz="1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0960" y="1417320"/>
            <a:ext cx="4114800" cy="3794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635240" y="1371600"/>
            <a:ext cx="4206240" cy="3886200"/>
          </a:xfrm>
          <a:prstGeom prst="rect">
            <a:avLst/>
          </a:prstGeom>
          <a:ln w="25400">
            <a:solidFill>
              <a:srgbClr val="3B2A1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80960" y="5349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7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one feeds, one collects  ✎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Nutri-Mix  •  Ragi + Bajra + Maize  (50:30:20)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24712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2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Innovation — Nutritional Synergy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61288"/>
            <a:ext cx="146304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scientific principles we used: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657600" cy="4023360"/>
          </a:xfrm>
          <a:prstGeom prst="rect">
            <a:avLst/>
          </a:prstGeom>
          <a:solidFill>
            <a:srgbClr val="FCE0DC"/>
          </a:solidFill>
          <a:ln w="12700">
            <a:solidFill>
              <a:srgbClr val="C9B68F"/>
            </a:solidFill>
            <a:prstDash val="solid"/>
          </a:ln>
          <a:effectLst>
            <a:outerShdw blurRad="76200" dist="381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828800"/>
            <a:ext cx="3657600" cy="10972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57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  Complete Protein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  →  rich in Lysine (low Methionine)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Bajra &amp; Maize  →  rich in Methionine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→ complete protein (like animal sources)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3657600" cy="4023360"/>
          </a:xfrm>
          <a:prstGeom prst="rect">
            <a:avLst/>
          </a:prstGeom>
          <a:solidFill>
            <a:srgbClr val="E2EFD9"/>
          </a:solidFill>
          <a:ln w="12700">
            <a:solidFill>
              <a:srgbClr val="C9B68F"/>
            </a:solidFill>
            <a:prstDash val="solid"/>
          </a:ln>
          <a:effectLst>
            <a:outerShdw blurRad="76200" dist="381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828800"/>
            <a:ext cx="3657600" cy="109728"/>
          </a:xfrm>
          <a:prstGeom prst="rect">
            <a:avLst/>
          </a:prstGeom>
          <a:solidFill>
            <a:srgbClr val="4F6D3A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057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6D3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2.  Calcium  +  Phosphorus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80560" y="274320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  →  344 mg Calcium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Bajra  →  296 mg Phosphorus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needed for strong bones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1828800"/>
            <a:ext cx="3657600" cy="4023360"/>
          </a:xfrm>
          <a:prstGeom prst="rect">
            <a:avLst/>
          </a:prstGeom>
          <a:solidFill>
            <a:srgbClr val="FFE9A8"/>
          </a:solidFill>
          <a:ln w="12700">
            <a:solidFill>
              <a:srgbClr val="C9B68F"/>
            </a:solidFill>
            <a:prstDash val="solid"/>
          </a:ln>
          <a:effectLst>
            <a:outerShdw blurRad="76200" dist="381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2440" y="1828800"/>
            <a:ext cx="3657600" cy="10972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057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3.  Fibre Synergy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75320" y="274320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Soluble fibre (Ragi)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Insoluble fibre (Maize, Bajra)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constipation without bloating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  ⟶  B  ⟶  M   =   Complete Nutrition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Nutri-Mix  •  Ragi + Bajra + Maize  (50:30:20)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2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Proposed Budget  —  1 SHG Unit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61288"/>
            <a:ext cx="146304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 grinding mill (Chakki)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2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Weighing machine (×2)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2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Refrigerator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2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Airtight containers (×12)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2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Mixing bowls &amp; sieves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2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material  (per kg flour)*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– 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Grinding charges (per kg)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Ragi 500 g  •  Bajra 300 g  •  Maize 200 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0" y="1417320"/>
            <a:ext cx="3566160" cy="1554480"/>
          </a:xfrm>
          <a:prstGeom prst="rect">
            <a:avLst/>
          </a:prstGeom>
          <a:solidFill>
            <a:srgbClr val="FFE9A8"/>
          </a:solidFill>
          <a:ln w="12700">
            <a:solidFill>
              <a:srgbClr val="E0C97A"/>
            </a:solidFill>
            <a:prstDash val="solid"/>
          </a:ln>
          <a:effectLst>
            <a:outerShdw blurRad="76200" dist="25400" dir="2700000" algn="bl" rotWithShape="0">
              <a:srgbClr val="C9B68F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66760" y="15087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36676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initial setup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366760" y="1874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≈  ₹ 75,000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36676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investment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0" y="3108960"/>
            <a:ext cx="3566160" cy="1554480"/>
          </a:xfrm>
          <a:prstGeom prst="rect">
            <a:avLst/>
          </a:prstGeom>
          <a:solidFill>
            <a:srgbClr val="E2EFD9"/>
          </a:solidFill>
          <a:ln w="12700">
            <a:solidFill>
              <a:srgbClr val="E0C97A"/>
            </a:solidFill>
            <a:prstDash val="solid"/>
          </a:ln>
          <a:effectLst>
            <a:outerShdw blurRad="76200" dist="25400" dir="2700000" algn="bl" rotWithShape="0">
              <a:srgbClr val="C9B68F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66760" y="32004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6676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operational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66760" y="3566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6D3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≈  ₹ 3,000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836676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one-time   •   Green = monthly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Nutri-Mix  •  Ragi + Bajra + Maize  (50:30:20)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4712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2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Business Strategy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61288"/>
            <a:ext cx="146304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5577840" cy="2331720"/>
          </a:xfrm>
          <a:prstGeom prst="rect">
            <a:avLst/>
          </a:prstGeom>
          <a:solidFill>
            <a:srgbClr val="FCE0DC"/>
          </a:solidFill>
          <a:ln w="12700">
            <a:solidFill>
              <a:srgbClr val="C9B68F"/>
            </a:solidFill>
            <a:prstDash val="solid"/>
          </a:ln>
          <a:effectLst>
            <a:outerShdw blurRad="76200" dist="25400" dir="2700000" algn="bl" rotWithShape="0">
              <a:srgbClr val="BBA988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71600"/>
            <a:ext cx="109728" cy="2331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Target Customers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with kids &amp; elderly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mothers (bone health)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conscious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kirana stores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5577840" cy="2331720"/>
          </a:xfrm>
          <a:prstGeom prst="rect">
            <a:avLst/>
          </a:prstGeom>
          <a:solidFill>
            <a:srgbClr val="E2EFD9"/>
          </a:solidFill>
          <a:ln w="12700">
            <a:solidFill>
              <a:srgbClr val="C9B68F"/>
            </a:solidFill>
            <a:prstDash val="solid"/>
          </a:ln>
          <a:effectLst>
            <a:outerShdw blurRad="76200" dist="25400" dir="2700000" algn="bl" rotWithShape="0">
              <a:srgbClr val="BBA988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371600"/>
            <a:ext cx="109728" cy="2331720"/>
          </a:xfrm>
          <a:prstGeom prst="rect">
            <a:avLst/>
          </a:prstGeom>
          <a:solidFill>
            <a:srgbClr val="4F6D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6D3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Pricing Strategy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46520" y="20574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make 1 kg flour:  ₹ 135 – 195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price:  ₹ 220 – 250 / kg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to SHG federations:  ₹ 180 – 200 / kg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5577840" cy="2331720"/>
          </a:xfrm>
          <a:prstGeom prst="rect">
            <a:avLst/>
          </a:prstGeom>
          <a:solidFill>
            <a:srgbClr val="FFE9A8"/>
          </a:solidFill>
          <a:ln w="12700">
            <a:solidFill>
              <a:srgbClr val="C9B68F"/>
            </a:solidFill>
            <a:prstDash val="solid"/>
          </a:ln>
          <a:effectLst>
            <a:outerShdw blurRad="76200" dist="25400" dir="2700000" algn="bl" rotWithShape="0">
              <a:srgbClr val="BBA98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94760"/>
            <a:ext cx="109728" cy="2331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31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Distribution Channels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weekly markets (haats)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Anganwadi centres (take-home ration)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mid-day meal suppliers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local Facebook groups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3794760"/>
            <a:ext cx="5577840" cy="2331720"/>
          </a:xfrm>
          <a:prstGeom prst="rect">
            <a:avLst/>
          </a:prstGeom>
          <a:solidFill>
            <a:srgbClr val="F4E2B7"/>
          </a:solidFill>
          <a:ln w="12700">
            <a:solidFill>
              <a:srgbClr val="C9B68F"/>
            </a:solidFill>
            <a:prstDash val="solid"/>
          </a:ln>
          <a:effectLst>
            <a:outerShdw blurRad="76200" dist="25400" dir="2700000" algn="bl" rotWithShape="0">
              <a:srgbClr val="BBA988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3794760"/>
            <a:ext cx="109728" cy="2331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931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Zero-Cost Marketing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46520" y="448056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cooking at SHG meetings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50 g sample with grocery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 roti = 1 day’s calcium” sticker on pack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Nutri-Mix  •  Ragi + Bajra + Maize  (50:30:20)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2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Revenue Projections  —  First 6 Months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61288"/>
            <a:ext cx="146304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 30 kg / week  •  120 kg / month  •  50% retail @ ₹220  +  50% bulk @ ₹190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7772400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(kg)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Price (₹/kg)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 Cost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F6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F6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F6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F6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F6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27,950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F6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6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595360" y="1920240"/>
            <a:ext cx="3200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6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7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Net profit (₹) — climbing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906256" y="3520440"/>
            <a:ext cx="350520" cy="1143000"/>
          </a:xfrm>
          <a:prstGeom prst="rect">
            <a:avLst/>
          </a:prstGeom>
          <a:solidFill>
            <a:srgbClr val="D9A441"/>
          </a:solidFill>
          <a:ln w="12700">
            <a:solidFill>
              <a:srgbClr val="3B2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0" y="4709160"/>
            <a:ext cx="44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348216" y="3177540"/>
            <a:ext cx="350520" cy="1485900"/>
          </a:xfrm>
          <a:prstGeom prst="rect">
            <a:avLst/>
          </a:prstGeom>
          <a:solidFill>
            <a:srgbClr val="D9A441"/>
          </a:solidFill>
          <a:ln w="12700">
            <a:solidFill>
              <a:srgbClr val="3B2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11640" y="4709160"/>
            <a:ext cx="44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790176" y="2880360"/>
            <a:ext cx="350520" cy="1783080"/>
          </a:xfrm>
          <a:prstGeom prst="rect">
            <a:avLst/>
          </a:prstGeom>
          <a:solidFill>
            <a:srgbClr val="D9A441"/>
          </a:solidFill>
          <a:ln w="12700">
            <a:solidFill>
              <a:srgbClr val="3B2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53600" y="4709160"/>
            <a:ext cx="44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232136" y="2811780"/>
            <a:ext cx="350520" cy="1851660"/>
          </a:xfrm>
          <a:prstGeom prst="rect">
            <a:avLst/>
          </a:prstGeom>
          <a:solidFill>
            <a:srgbClr val="D9A441"/>
          </a:solidFill>
          <a:ln w="12700">
            <a:solidFill>
              <a:srgbClr val="3B2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95560" y="4709160"/>
            <a:ext cx="44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0674096" y="2811780"/>
            <a:ext cx="350520" cy="1851660"/>
          </a:xfrm>
          <a:prstGeom prst="rect">
            <a:avLst/>
          </a:prstGeom>
          <a:solidFill>
            <a:srgbClr val="D9A441"/>
          </a:solidFill>
          <a:ln w="12700">
            <a:solidFill>
              <a:srgbClr val="3B2A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37520" y="4709160"/>
            <a:ext cx="44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1116056" y="2583180"/>
            <a:ext cx="350520" cy="2080260"/>
          </a:xfrm>
          <a:prstGeom prst="rect">
            <a:avLst/>
          </a:prstGeom>
          <a:solidFill>
            <a:srgbClr val="B85042"/>
          </a:solidFill>
          <a:ln w="12700">
            <a:solidFill>
              <a:srgbClr val="3B2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079480" y="4709160"/>
            <a:ext cx="44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595360" y="5212080"/>
            <a:ext cx="3200400" cy="914400"/>
          </a:xfrm>
          <a:prstGeom prst="rect">
            <a:avLst/>
          </a:prstGeom>
          <a:solidFill>
            <a:srgbClr val="FFE9A8"/>
          </a:solidFill>
          <a:ln w="12700">
            <a:solidFill>
              <a:srgbClr val="E0C97A"/>
            </a:solidFill>
            <a:prstDash val="solid"/>
          </a:ln>
          <a:effectLst>
            <a:outerShdw blurRad="76200" dist="25400" dir="2700000" algn="bl" rotWithShape="0">
              <a:srgbClr val="C9B68F">
                <a:alpha val="4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732520" y="5303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686800" y="52578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Break-even within  ≈  5 months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Nutri-Mix  •  Ragi + Bajra + Maize  (50:30:20)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4712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2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Product Applications  —  Six 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61288"/>
            <a:ext cx="146304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2468880" cy="1691640"/>
          </a:xfrm>
          <a:prstGeom prst="rect">
            <a:avLst/>
          </a:prstGeom>
          <a:solidFill>
            <a:srgbClr val="FCE0DC"/>
          </a:solidFill>
          <a:ln w="12700">
            <a:solidFill>
              <a:srgbClr val="C9B68F"/>
            </a:solidFill>
            <a:prstDash val="solid"/>
          </a:ln>
          <a:effectLst>
            <a:outerShdw blurRad="63500" dist="254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08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Multigrain Roti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91440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with warm water, knead, roll, cook on tawa.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417320"/>
            <a:ext cx="2468880" cy="1691640"/>
          </a:xfrm>
          <a:prstGeom prst="rect">
            <a:avLst/>
          </a:prstGeom>
          <a:solidFill>
            <a:srgbClr val="FFE9A8"/>
          </a:solidFill>
          <a:ln w="12700">
            <a:solidFill>
              <a:srgbClr val="C9B68F"/>
            </a:solidFill>
            <a:prstDash val="solid"/>
          </a:ln>
          <a:effectLst>
            <a:outerShdw blurRad="63500" dist="254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508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Health Porridge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46120" y="1965960"/>
            <a:ext cx="91440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05740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2 tbsp flour in water/milk + jaggery or salt.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1417320"/>
            <a:ext cx="2468880" cy="1691640"/>
          </a:xfrm>
          <a:prstGeom prst="rect">
            <a:avLst/>
          </a:prstGeom>
          <a:solidFill>
            <a:srgbClr val="E2EFD9"/>
          </a:solidFill>
          <a:ln w="12700">
            <a:solidFill>
              <a:srgbClr val="C9B68F"/>
            </a:solidFill>
            <a:prstDash val="solid"/>
          </a:ln>
          <a:effectLst>
            <a:outerShdw blurRad="63500" dist="254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1508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Infant Food (8m+)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852160" y="1965960"/>
            <a:ext cx="91440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05740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roast + cook into smooth paste.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246120"/>
            <a:ext cx="2468880" cy="1691640"/>
          </a:xfrm>
          <a:prstGeom prst="rect">
            <a:avLst/>
          </a:prstGeom>
          <a:solidFill>
            <a:srgbClr val="F4E2B7"/>
          </a:solidFill>
          <a:ln w="12700">
            <a:solidFill>
              <a:srgbClr val="C9B68F"/>
            </a:solidFill>
            <a:prstDash val="solid"/>
          </a:ln>
          <a:effectLst>
            <a:outerShdw blurRad="63500" dist="254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337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Kanji Drink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3794760"/>
            <a:ext cx="91440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8620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with buttermilk + salt + cumin, ferment overnight.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08960" y="3246120"/>
            <a:ext cx="2468880" cy="1691640"/>
          </a:xfrm>
          <a:prstGeom prst="rect">
            <a:avLst/>
          </a:prstGeom>
          <a:solidFill>
            <a:srgbClr val="FCE0DC"/>
          </a:solidFill>
          <a:ln w="12700">
            <a:solidFill>
              <a:srgbClr val="C9B68F"/>
            </a:solidFill>
            <a:prstDash val="solid"/>
          </a:ln>
          <a:effectLst>
            <a:outerShdw blurRad="63500" dist="254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46120" y="3337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Fitness Dosa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46120" y="3794760"/>
            <a:ext cx="91440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88620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 with curd, ferment 4 hours.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15000" y="3246120"/>
            <a:ext cx="2468880" cy="1691640"/>
          </a:xfrm>
          <a:prstGeom prst="rect">
            <a:avLst/>
          </a:prstGeom>
          <a:solidFill>
            <a:srgbClr val="E2EFD9"/>
          </a:solidFill>
          <a:ln w="12700">
            <a:solidFill>
              <a:srgbClr val="C9B68F"/>
            </a:solidFill>
            <a:prstDash val="solid"/>
          </a:ln>
          <a:effectLst>
            <a:outerShdw blurRad="63500" dist="254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52160" y="3337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Ladoo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852160" y="3794760"/>
            <a:ext cx="91440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388620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roast in ghee + jaggery + nuts.</a:t>
            </a:r>
            <a:endParaRPr lang="en-US" sz="12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03920" y="1417320"/>
            <a:ext cx="3291840" cy="365760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8458200" y="1371600"/>
            <a:ext cx="3383280" cy="3749040"/>
          </a:xfrm>
          <a:prstGeom prst="rect">
            <a:avLst/>
          </a:prstGeom>
          <a:ln w="25400">
            <a:solidFill>
              <a:srgbClr val="3B2A1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03920" y="521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7A6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roti  •  porridge  •  ladoo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Nutri-Mix  •  Ragi + Bajra + Maize  (50:30:20)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24712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2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Social Impact  &amp;  Awareness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61288"/>
            <a:ext cx="146304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Direct benefits to community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6858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local employment  (2 persons / unit)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anaemia &amp; malnutrition in women &amp; children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locally grown millets  →  supports farmers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alternative to packaged “health flours”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6D3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Awareness plan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workshop per month in 5 villages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“₹5 roti = complete protein”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ASHA workers for pregnant women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5623560"/>
            <a:ext cx="7040880" cy="777240"/>
          </a:xfrm>
          <a:prstGeom prst="rect">
            <a:avLst/>
          </a:prstGeom>
          <a:solidFill>
            <a:srgbClr val="FFE9A8"/>
          </a:solidFill>
          <a:ln w="12700">
            <a:solidFill>
              <a:srgbClr val="E0C97A"/>
            </a:solidFill>
            <a:prstDash val="solid"/>
          </a:ln>
          <a:effectLst>
            <a:outerShdw blurRad="76200" dist="25400" dir="2700000" algn="bl" rotWithShape="0">
              <a:srgbClr val="C9B68F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571500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B2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“ Healthy family + steady income  =  real empowerment. ”</a:t>
            </a:r>
            <a:endParaRPr lang="en-US" sz="17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3840" y="1371600"/>
            <a:ext cx="3931920" cy="5029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18120" y="1325880"/>
            <a:ext cx="4023360" cy="5120640"/>
          </a:xfrm>
          <a:prstGeom prst="rect">
            <a:avLst/>
          </a:prstGeom>
          <a:ln w="25400">
            <a:solidFill>
              <a:srgbClr val="3B2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Nutri-Mix  •  Ragi + Bajra + Maize  (50:30:20)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4712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2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Conclusion  &amp;  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61288"/>
            <a:ext cx="146304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5486400" cy="4206240"/>
          </a:xfrm>
          <a:prstGeom prst="rect">
            <a:avLst/>
          </a:prstGeom>
          <a:solidFill>
            <a:srgbClr val="FCE0DC"/>
          </a:solidFill>
          <a:ln w="12700">
            <a:solidFill>
              <a:srgbClr val="C9B68F"/>
            </a:solidFill>
            <a:prstDash val="solid"/>
          </a:ln>
          <a:effectLst>
            <a:outerShdw blurRad="76200" dist="254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71600"/>
            <a:ext cx="109728" cy="42062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Summary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50:30:20 Ragi-Bajra-Maize  →  nutritionally superior &amp; low cost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milling preserves nutrients &amp; natural oils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 ₹ 75 k  →  break even in 5 months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nutrition + monthly income for rural women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371600"/>
            <a:ext cx="5577840" cy="4206240"/>
          </a:xfrm>
          <a:prstGeom prst="rect">
            <a:avLst/>
          </a:prstGeom>
          <a:solidFill>
            <a:srgbClr val="E2EFD9"/>
          </a:solidFill>
          <a:ln w="12700">
            <a:solidFill>
              <a:srgbClr val="C9B68F"/>
            </a:solidFill>
            <a:prstDash val="solid"/>
          </a:ln>
          <a:effectLst>
            <a:outerShdw blurRad="76200" dist="25400" dir="2700000" algn="bl" rotWithShape="0">
              <a:srgbClr val="BBA98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371600"/>
            <a:ext cx="109728" cy="4206240"/>
          </a:xfrm>
          <a:prstGeom prst="rect">
            <a:avLst/>
          </a:prstGeom>
          <a:solidFill>
            <a:srgbClr val="4F6D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463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6D3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SHG micro-enterprise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NABARD / KVIC millet subsidy (up to 40%)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first 10 kg trial batch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FSSAI basic licence  (₹ 2,000 – 3,000)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to local ICDS centres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5669280"/>
            <a:ext cx="11247120" cy="64008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5669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5EDD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“  Small mill,  big impact  —  from grain to gain.  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Nutri-Mix  •  Ragi + Bajra + Maize  (50:30:20)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966</Words>
  <Application>Microsoft Office PowerPoint</Application>
  <PresentationFormat>Widescreen</PresentationFormat>
  <Paragraphs>231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Nutri-Mix Multi-Grain Flour</dc:title>
  <dc:subject>PptxGenJS Presentation</dc:subject>
  <dc:creator>PptxGenJS</dc:creator>
  <cp:lastModifiedBy>Shaik.AbdulRazak</cp:lastModifiedBy>
  <cp:revision>3</cp:revision>
  <dcterms:created xsi:type="dcterms:W3CDTF">2026-04-30T04:35:21Z</dcterms:created>
  <dcterms:modified xsi:type="dcterms:W3CDTF">2026-04-30T05:59:33Z</dcterms:modified>
</cp:coreProperties>
</file>