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C86EA-C9B7-49AA-A043-3463651C8887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7CBA6-7460-4B1C-92A0-4BEFD7CC62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6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57C02-23C3-478F-92F1-FAC38CEAE746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0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FD25-EE28-435E-8BD2-59B7B9D4C41E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13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C9633F1-0836-4E67-9292-25E303551FF2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02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F0F7C-960B-4CEB-966B-A4665AA5CE39}" type="datetime1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5C6D-382B-4E99-9753-314B8378F071}" type="datetime1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58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B9D5-1151-420F-96B2-3179B275B3E9}" type="datetime1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21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344A0-F7CE-4926-9AF9-FF163900DE96}" type="datetime1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32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5C6-3727-4A3F-AE86-715138C0546E}" type="datetime1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24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C31D-0434-41CD-8D2B-0A8884272246}" type="datetime1">
              <a:rPr lang="en-IN" smtClean="0"/>
              <a:t>12-12-2025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48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EF22-7E3B-4149-AA23-110A3F02DE04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6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268A-5108-4266-8FF6-66E897539353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72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DA9A40C-877D-4718-A860-9CEBBF4CE4FD}" type="datetime1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0BEA439-E2DB-41C7-BA0D-C4F8A1719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7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2641" y="1122363"/>
            <a:ext cx="10472467" cy="2387600"/>
          </a:xfrm>
        </p:spPr>
        <p:txBody>
          <a:bodyPr>
            <a:normAutofit/>
          </a:bodyPr>
          <a:lstStyle/>
          <a:p>
            <a:pPr defTabSz="896938">
              <a:tabLst>
                <a:tab pos="1612900" algn="l"/>
              </a:tabLst>
            </a:pPr>
            <a:r>
              <a:rPr lang="en-US" sz="2800" b="1" dirty="0"/>
              <a:t>5</a:t>
            </a:r>
            <a:r>
              <a:rPr lang="en-US" sz="2800" b="1" dirty="0" smtClean="0"/>
              <a:t>th International Conference on </a:t>
            </a:r>
            <a:r>
              <a:rPr lang="en-US" sz="2800" b="1" dirty="0" smtClean="0">
                <a:effectLst/>
              </a:rPr>
              <a:t/>
            </a:r>
            <a:br>
              <a:rPr lang="en-US" sz="2800" b="1" dirty="0" smtClean="0">
                <a:effectLst/>
              </a:rPr>
            </a:br>
            <a:r>
              <a:rPr lang="en-US" sz="2800" b="1" dirty="0" smtClean="0"/>
              <a:t>Cognitive &amp; Intelligent Computing</a:t>
            </a:r>
            <a:r>
              <a:rPr lang="en-US" sz="2800" b="1" dirty="0" smtClean="0">
                <a:effectLst/>
              </a:rPr>
              <a:t/>
            </a:r>
            <a:br>
              <a:rPr lang="en-US" sz="2800" b="1" dirty="0" smtClean="0">
                <a:effectLst/>
              </a:rPr>
            </a:br>
            <a:r>
              <a:rPr lang="en-US" sz="2800" b="1" dirty="0" smtClean="0"/>
              <a:t>(ICCIC-2025)</a:t>
            </a:r>
            <a:r>
              <a:rPr lang="en-US" sz="2800" dirty="0" smtClean="0">
                <a:effectLst/>
              </a:rPr>
              <a:t/>
            </a:r>
            <a:br>
              <a:rPr lang="en-US" sz="2800" dirty="0" smtClean="0">
                <a:effectLst/>
              </a:rPr>
            </a:br>
            <a:r>
              <a:rPr lang="en-US" sz="2200" dirty="0" smtClean="0">
                <a:effectLst/>
              </a:rPr>
              <a:t>Dates:- </a:t>
            </a:r>
            <a:r>
              <a:rPr lang="en-IN" sz="2200" b="1" dirty="0" smtClean="0"/>
              <a:t>12-13 November </a:t>
            </a:r>
            <a:r>
              <a:rPr lang="en-IN" sz="2200" b="1" dirty="0" smtClean="0"/>
              <a:t>2025</a:t>
            </a:r>
            <a:r>
              <a:rPr lang="en-IN" sz="2200" b="1" dirty="0" smtClean="0"/>
              <a:t/>
            </a:r>
            <a:br>
              <a:rPr lang="en-IN" sz="2200" b="1" dirty="0" smtClean="0"/>
            </a:br>
            <a:r>
              <a:rPr lang="en-IN" sz="2200" b="1" dirty="0" smtClean="0"/>
              <a:t>Venue:- </a:t>
            </a:r>
            <a:r>
              <a:rPr lang="en-US" sz="2200" b="1" dirty="0" err="1" smtClean="0"/>
              <a:t>Vasavi</a:t>
            </a:r>
            <a:r>
              <a:rPr lang="en-US" sz="2200" b="1" dirty="0" smtClean="0"/>
              <a:t> College of Engineering, Hyderabad, India</a:t>
            </a:r>
            <a:r>
              <a:rPr lang="en-US" sz="2200" dirty="0">
                <a:effectLst/>
              </a:rPr>
              <a:t/>
            </a:r>
            <a:br>
              <a:rPr lang="en-US" sz="2200" dirty="0">
                <a:effectLst/>
              </a:rPr>
            </a:br>
            <a:endParaRPr lang="en-IN" sz="2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Title of Presentation</a:t>
            </a:r>
            <a:r>
              <a:rPr lang="en-IN" b="1" i="1" dirty="0"/>
              <a:t>:- </a:t>
            </a:r>
            <a:r>
              <a:rPr lang="en-US" sz="2100" b="1" i="1" dirty="0"/>
              <a:t>MEGA-HEART</a:t>
            </a:r>
            <a:r>
              <a:rPr lang="en-US" sz="2100" i="1" dirty="0"/>
              <a:t>: Construction of a Comprehensive Cardiovascular Dataset through Multi-Source Clinical Data</a:t>
            </a:r>
            <a:endParaRPr lang="en-IN" sz="2100" i="1" dirty="0"/>
          </a:p>
          <a:p>
            <a:pPr algn="l"/>
            <a:r>
              <a:rPr lang="en-IN" sz="2100" dirty="0"/>
              <a:t>Paper ID:- </a:t>
            </a:r>
            <a:r>
              <a:rPr lang="en-IN" sz="2100" b="1" i="1" dirty="0" smtClean="0"/>
              <a:t>227</a:t>
            </a:r>
          </a:p>
          <a:p>
            <a:r>
              <a:rPr lang="en-IN" dirty="0" smtClean="0"/>
              <a:t>Presenter Name:-</a:t>
            </a:r>
            <a:r>
              <a:rPr lang="en-IN" sz="1800" dirty="0" smtClean="0"/>
              <a:t> </a:t>
            </a:r>
            <a:r>
              <a:rPr lang="en-IN" sz="2900" i="1" dirty="0" err="1"/>
              <a:t>Shaik</a:t>
            </a:r>
            <a:r>
              <a:rPr lang="en-IN" sz="2900" i="1" dirty="0"/>
              <a:t> Abdul </a:t>
            </a:r>
            <a:r>
              <a:rPr lang="en-IN" sz="2900" i="1" dirty="0" err="1"/>
              <a:t>Razak</a:t>
            </a:r>
            <a:endParaRPr lang="en-IN" sz="2900" i="1" dirty="0"/>
          </a:p>
          <a:p>
            <a:pPr algn="l"/>
            <a:r>
              <a:rPr lang="en-IN" dirty="0" smtClean="0"/>
              <a:t>Track Name:- </a:t>
            </a:r>
            <a:r>
              <a:rPr lang="en-IN" sz="1900" b="1" i="1" dirty="0" smtClean="0"/>
              <a:t>Artificial intelligence &amp; Machine Learning</a:t>
            </a:r>
          </a:p>
          <a:p>
            <a:pPr algn="l"/>
            <a:endParaRPr lang="en-IN" dirty="0" smtClean="0"/>
          </a:p>
          <a:p>
            <a:pPr algn="l"/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62090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9721649" cy="356206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Cardiovascular diseases are the leading cause of global mortality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Machine Learning models need large, high-quality datasets for accurate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heart-disease </a:t>
            </a:r>
            <a:r>
              <a:rPr lang="en-US" b="1" dirty="0"/>
              <a:t>prediction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Existing public datasets are small,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fragmented</a:t>
            </a:r>
            <a:r>
              <a:rPr lang="en-US" b="1" dirty="0"/>
              <a:t>, and inconsistent in </a:t>
            </a:r>
            <a:r>
              <a:rPr lang="en-US" b="1" dirty="0" smtClean="0"/>
              <a:t>schema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</a:t>
            </a:r>
            <a:r>
              <a:rPr lang="en-US" b="1" dirty="0"/>
              <a:t>and units</a:t>
            </a:r>
            <a:r>
              <a:rPr lang="en-US" b="1" dirty="0" smtClean="0"/>
              <a:t>.</a:t>
            </a:r>
            <a:endParaRPr lang="en-US" dirty="0" smtClean="0"/>
          </a:p>
          <a:p>
            <a:r>
              <a:rPr lang="en-US" b="1" dirty="0" smtClean="0"/>
              <a:t> This </a:t>
            </a:r>
            <a:r>
              <a:rPr lang="en-US" b="1" dirty="0"/>
              <a:t>fragmentation reduces </a:t>
            </a:r>
            <a:r>
              <a:rPr lang="en-US" b="1" dirty="0" smtClean="0"/>
              <a:t>model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performance </a:t>
            </a:r>
            <a:r>
              <a:rPr lang="en-US" b="1" dirty="0"/>
              <a:t>and limits clinical applicability</a:t>
            </a:r>
            <a:r>
              <a:rPr lang="en-US" b="1" dirty="0" smtClean="0"/>
              <a:t>.</a:t>
            </a:r>
            <a:endParaRPr lang="en-US" dirty="0" smtClean="0"/>
          </a:p>
          <a:p>
            <a:r>
              <a:rPr lang="en-US" b="1" dirty="0" smtClean="0"/>
              <a:t> </a:t>
            </a:r>
            <a:r>
              <a:rPr lang="en-US" b="1" dirty="0">
                <a:solidFill>
                  <a:schemeClr val="accent2"/>
                </a:solidFill>
              </a:rPr>
              <a:t>MEGA-HEART</a:t>
            </a:r>
            <a:r>
              <a:rPr lang="en-US" b="1" dirty="0"/>
              <a:t> addresses this by </a:t>
            </a:r>
            <a:r>
              <a:rPr lang="en-US" b="1" dirty="0" smtClean="0"/>
              <a:t>integrating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</a:t>
            </a:r>
            <a:r>
              <a:rPr lang="en-US" b="1" dirty="0"/>
              <a:t>multiple heterogeneous datasets into </a:t>
            </a:r>
            <a:r>
              <a:rPr lang="en-US" b="1" dirty="0" smtClean="0"/>
              <a:t>one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unified</a:t>
            </a:r>
            <a:r>
              <a:rPr lang="en-US" b="1" dirty="0"/>
              <a:t>, high-quality resource.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ICMISC </a:t>
            </a:r>
            <a:r>
              <a:rPr lang="en-US" dirty="0" smtClean="0"/>
              <a:t>2025: </a:t>
            </a:r>
            <a:r>
              <a:rPr lang="en-US" dirty="0" err="1"/>
              <a:t>Vasavi</a:t>
            </a:r>
            <a:r>
              <a:rPr lang="en-US" dirty="0"/>
              <a:t> College of Engineering, Hyderabad, Telangana, India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2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1" y="2999580"/>
            <a:ext cx="5506720" cy="29790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169" y="6337085"/>
            <a:ext cx="5387183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N" sz="1100" dirty="0" smtClean="0">
                <a:solidFill>
                  <a:srgbClr val="696464"/>
                </a:solidFill>
                <a:latin typeface="Rockwell" panose="02060603020205020403" pitchFamily="18" charset="0"/>
              </a:rPr>
              <a:t>12-12-2025</a:t>
            </a:r>
            <a:endParaRPr lang="en-IN" sz="1100" dirty="0"/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41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-375666"/>
            <a:ext cx="10058400" cy="1609344"/>
          </a:xfrm>
        </p:spPr>
        <p:txBody>
          <a:bodyPr/>
          <a:lstStyle/>
          <a:p>
            <a:r>
              <a:rPr lang="en-IN" dirty="0"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608" y="769187"/>
            <a:ext cx="10058400" cy="1566672"/>
          </a:xfrm>
        </p:spPr>
        <p:txBody>
          <a:bodyPr/>
          <a:lstStyle/>
          <a:p>
            <a:r>
              <a:rPr lang="en-US" sz="1600" b="1" dirty="0" smtClean="0"/>
              <a:t>The </a:t>
            </a:r>
            <a:r>
              <a:rPr lang="en-US" sz="1600" b="1" dirty="0"/>
              <a:t>main challenge was that existing heart-disease datasets were small, fragmented, and had different schemas.</a:t>
            </a:r>
          </a:p>
          <a:p>
            <a:r>
              <a:rPr lang="en-US" sz="1600" b="1" dirty="0" smtClean="0"/>
              <a:t>To </a:t>
            </a:r>
            <a:r>
              <a:rPr lang="en-US" sz="1600" b="1" dirty="0"/>
              <a:t>overcome this, a three-phase integration pipeline was used to create one unified, high-quality dataset.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12-12-2025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ICMISC 2024: Vasavi College of Engineering, Hyderabad, Telangana, India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92608" y="1826720"/>
            <a:ext cx="1032357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Phase 1: Dataset Merging &amp; Duplicate Removal</a:t>
            </a:r>
          </a:p>
          <a:p>
            <a:r>
              <a:rPr lang="en-US" sz="1600" b="1" dirty="0"/>
              <a:t>• Dataset A (1026×14) and Dataset B (919×12) were merged to address the problem of limited dataset size.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/>
              <a:t>• MD5 hashing was applied to detect and remove 724 duplicate records to ensure data purity.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/>
              <a:t>• Result: Clean intermediate dataset (1221×14</a:t>
            </a:r>
            <a:r>
              <a:rPr lang="en-US" sz="1600" b="1" dirty="0" smtClean="0"/>
              <a:t>).</a:t>
            </a:r>
          </a:p>
          <a:p>
            <a:endParaRPr lang="en-US" sz="1600" b="1" dirty="0"/>
          </a:p>
          <a:p>
            <a:r>
              <a:rPr lang="en-US" b="1" dirty="0">
                <a:solidFill>
                  <a:schemeClr val="accent2"/>
                </a:solidFill>
              </a:rPr>
              <a:t>Phase 2: Schema Harmonization</a:t>
            </a:r>
          </a:p>
          <a:p>
            <a:r>
              <a:rPr lang="en-US" sz="1600" b="1" dirty="0"/>
              <a:t>• Solved the problem of different column names</a:t>
            </a:r>
            <a:r>
              <a:rPr lang="en-US" sz="1600" b="1" dirty="0" smtClean="0"/>
              <a:t>,</a:t>
            </a:r>
          </a:p>
          <a:p>
            <a:r>
              <a:rPr lang="en-US" sz="1600" b="1" dirty="0" smtClean="0"/>
              <a:t> </a:t>
            </a:r>
            <a:r>
              <a:rPr lang="en-US" sz="1600" b="1" dirty="0"/>
              <a:t>units, and coding styles across datasets.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/>
              <a:t>• Standardized all features and created a </a:t>
            </a:r>
            <a:r>
              <a:rPr lang="en-US" sz="1600" b="1" dirty="0" smtClean="0"/>
              <a:t>unified</a:t>
            </a:r>
          </a:p>
          <a:p>
            <a:r>
              <a:rPr lang="en-US" sz="1600" b="1" dirty="0" smtClean="0"/>
              <a:t> </a:t>
            </a:r>
            <a:r>
              <a:rPr lang="en-US" sz="1600" b="1" dirty="0"/>
              <a:t>20-feature structure.</a:t>
            </a:r>
            <a:endParaRPr lang="en-US" sz="1600" dirty="0"/>
          </a:p>
          <a:p>
            <a:endParaRPr lang="en-US" sz="1600" dirty="0" smtClean="0"/>
          </a:p>
          <a:p>
            <a:r>
              <a:rPr lang="en-US" b="1" dirty="0">
                <a:solidFill>
                  <a:schemeClr val="accent2"/>
                </a:solidFill>
              </a:rPr>
              <a:t>Phase 3: Missing Value Handling &amp; Quality </a:t>
            </a:r>
            <a:endParaRPr lang="en-US" b="1" dirty="0" smtClean="0">
              <a:solidFill>
                <a:schemeClr val="accent2"/>
              </a:solidFill>
            </a:endParaRPr>
          </a:p>
          <a:p>
            <a:r>
              <a:rPr lang="en-US" b="1" dirty="0" smtClean="0">
                <a:solidFill>
                  <a:schemeClr val="accent2"/>
                </a:solidFill>
              </a:rPr>
              <a:t>Assurance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sz="1600" b="1" dirty="0"/>
              <a:t>• Missing data was a major issue, so mean/median </a:t>
            </a:r>
            <a:endParaRPr lang="en-US" sz="1600" b="1" dirty="0" smtClean="0"/>
          </a:p>
          <a:p>
            <a:r>
              <a:rPr lang="en-US" sz="1600" b="1" dirty="0" smtClean="0"/>
              <a:t>(</a:t>
            </a:r>
            <a:r>
              <a:rPr lang="en-US" sz="1600" b="1" dirty="0"/>
              <a:t>numerical), mode (categorical), and </a:t>
            </a:r>
            <a:r>
              <a:rPr lang="en-US" sz="1600" b="1" dirty="0" smtClean="0"/>
              <a:t>group-based</a:t>
            </a:r>
          </a:p>
          <a:p>
            <a:r>
              <a:rPr lang="en-US" sz="1600" b="1" dirty="0" smtClean="0"/>
              <a:t> imputation </a:t>
            </a:r>
            <a:r>
              <a:rPr lang="en-US" sz="1600" b="1" dirty="0"/>
              <a:t>were used.</a:t>
            </a:r>
            <a:r>
              <a:rPr lang="en-US" sz="1600" dirty="0"/>
              <a:t/>
            </a:r>
            <a:br>
              <a:rPr lang="en-US" sz="1600" dirty="0"/>
            </a:br>
            <a:endParaRPr lang="en-US" dirty="0"/>
          </a:p>
          <a:p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48" y="3160914"/>
            <a:ext cx="6325060" cy="304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2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608" y="-236728"/>
            <a:ext cx="10058400" cy="1609344"/>
          </a:xfrm>
        </p:spPr>
        <p:txBody>
          <a:bodyPr/>
          <a:lstStyle/>
          <a:p>
            <a:r>
              <a:rPr lang="en-IN" b="1" dirty="0"/>
              <a:t>Results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608" y="1034288"/>
            <a:ext cx="10818368" cy="486867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Final </a:t>
            </a:r>
            <a:r>
              <a:rPr lang="en-US" b="1" dirty="0">
                <a:solidFill>
                  <a:schemeClr val="accent2"/>
                </a:solidFill>
              </a:rPr>
              <a:t>MEGA-HEART</a:t>
            </a:r>
            <a:r>
              <a:rPr lang="en-US" b="1" dirty="0"/>
              <a:t> dataset contains 71,220 records with 20 clinically meaningful features.</a:t>
            </a:r>
          </a:p>
          <a:p>
            <a:r>
              <a:rPr lang="en-US" b="1" dirty="0" smtClean="0"/>
              <a:t>Duplicate </a:t>
            </a:r>
            <a:r>
              <a:rPr lang="en-US" b="1" dirty="0"/>
              <a:t>elimination removed 724 overlapping records, improving data purity.</a:t>
            </a:r>
          </a:p>
          <a:p>
            <a:r>
              <a:rPr lang="en-US" b="1" dirty="0" smtClean="0"/>
              <a:t>Missing </a:t>
            </a:r>
            <a:r>
              <a:rPr lang="en-US" b="1" dirty="0"/>
              <a:t>values reduced from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</a:t>
            </a:r>
            <a:r>
              <a:rPr lang="en-US" b="1" dirty="0" smtClean="0">
                <a:solidFill>
                  <a:schemeClr val="accent2"/>
                </a:solidFill>
              </a:rPr>
              <a:t>12,450 </a:t>
            </a:r>
            <a:r>
              <a:rPr lang="en-US" b="1" dirty="0">
                <a:solidFill>
                  <a:schemeClr val="accent2"/>
                </a:solidFill>
              </a:rPr>
              <a:t>to 1,120 — a 92.6% </a:t>
            </a:r>
            <a:r>
              <a:rPr lang="en-US" b="1" dirty="0"/>
              <a:t>reduction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after </a:t>
            </a:r>
            <a:r>
              <a:rPr lang="en-US" b="1" dirty="0"/>
              <a:t>imputation.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completeness improved from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chemeClr val="accent2"/>
                </a:solidFill>
              </a:rPr>
              <a:t>68.5</a:t>
            </a:r>
            <a:r>
              <a:rPr lang="en-US" b="1" dirty="0">
                <a:solidFill>
                  <a:schemeClr val="accent2"/>
                </a:solidFill>
              </a:rPr>
              <a:t>% to 95.2% </a:t>
            </a:r>
            <a:r>
              <a:rPr lang="en-US" b="1" dirty="0"/>
              <a:t>after integration.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consistency increased from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chemeClr val="accent2"/>
                </a:solidFill>
              </a:rPr>
              <a:t>72.3</a:t>
            </a:r>
            <a:r>
              <a:rPr lang="en-US" b="1" dirty="0">
                <a:solidFill>
                  <a:schemeClr val="accent2"/>
                </a:solidFill>
              </a:rPr>
              <a:t>% to 94.8% </a:t>
            </a:r>
            <a:r>
              <a:rPr lang="en-US" b="1" dirty="0"/>
              <a:t>after </a:t>
            </a:r>
            <a:r>
              <a:rPr lang="en-US" b="1" dirty="0" smtClean="0"/>
              <a:t>schema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/>
              <a:t>standardization.</a:t>
            </a:r>
          </a:p>
          <a:p>
            <a:r>
              <a:rPr lang="en-US" b="1" dirty="0" smtClean="0"/>
              <a:t>Feature </a:t>
            </a:r>
            <a:r>
              <a:rPr lang="en-US" b="1" dirty="0"/>
              <a:t>coverage improved from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an </a:t>
            </a:r>
            <a:r>
              <a:rPr lang="en-US" b="1" dirty="0"/>
              <a:t>average of </a:t>
            </a:r>
            <a:r>
              <a:rPr lang="en-US" b="1" dirty="0">
                <a:solidFill>
                  <a:schemeClr val="accent2"/>
                </a:solidFill>
              </a:rPr>
              <a:t>14.5 features to </a:t>
            </a:r>
            <a:r>
              <a:rPr lang="en-US" b="1" dirty="0" smtClean="0">
                <a:solidFill>
                  <a:schemeClr val="accent2"/>
                </a:solidFill>
              </a:rPr>
              <a:t>all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 20 </a:t>
            </a:r>
            <a:r>
              <a:rPr lang="en-US" b="1" dirty="0">
                <a:solidFill>
                  <a:schemeClr val="accent2"/>
                </a:solidFill>
              </a:rPr>
              <a:t>standardized features.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12-12-2025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ICMISC </a:t>
            </a:r>
            <a:r>
              <a:rPr lang="en-US" dirty="0" smtClean="0"/>
              <a:t>2025: </a:t>
            </a:r>
            <a:r>
              <a:rPr lang="en-US" dirty="0" err="1"/>
              <a:t>Vasavi</a:t>
            </a:r>
            <a:r>
              <a:rPr lang="en-US" dirty="0"/>
              <a:t> College of Engineering, Hyderabad, Telangana, India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98" y="2082800"/>
            <a:ext cx="6821410" cy="38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1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28" y="-269748"/>
            <a:ext cx="10058400" cy="1609344"/>
          </a:xfrm>
        </p:spPr>
        <p:txBody>
          <a:bodyPr/>
          <a:lstStyle/>
          <a:p>
            <a:r>
              <a:rPr lang="en-IN" b="1" dirty="0"/>
              <a:t>Discussion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" y="1186688"/>
            <a:ext cx="7149592" cy="508609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The </a:t>
            </a:r>
            <a:r>
              <a:rPr lang="en-US" b="1" dirty="0"/>
              <a:t>integration process successfully addressed </a:t>
            </a:r>
            <a:r>
              <a:rPr lang="en-US" b="1" dirty="0" smtClean="0"/>
              <a:t>the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/>
              <a:t>fragmentation problem found in existing </a:t>
            </a:r>
            <a:r>
              <a:rPr lang="en-US" b="1" dirty="0" smtClean="0"/>
              <a:t>heart-disease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/>
              <a:t>datasets.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MEGA-HEART</a:t>
            </a:r>
            <a:r>
              <a:rPr lang="en-US" b="1" dirty="0" smtClean="0"/>
              <a:t> </a:t>
            </a:r>
            <a:r>
              <a:rPr lang="en-US" b="1" dirty="0"/>
              <a:t>provides a unified, large-scale dataset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that </a:t>
            </a:r>
            <a:r>
              <a:rPr lang="en-US" b="1" dirty="0"/>
              <a:t>enables more reliable and </a:t>
            </a:r>
            <a:r>
              <a:rPr lang="en-US" b="1" dirty="0" smtClean="0"/>
              <a:t>generalizable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/>
              <a:t>machine learning prediction models.</a:t>
            </a:r>
          </a:p>
          <a:p>
            <a:r>
              <a:rPr lang="en-US" b="1" dirty="0" smtClean="0"/>
              <a:t>Standardization </a:t>
            </a:r>
            <a:r>
              <a:rPr lang="en-US" b="1" dirty="0"/>
              <a:t>of schema and units improved </a:t>
            </a:r>
            <a:r>
              <a:rPr lang="en-US" b="1" dirty="0" smtClean="0"/>
              <a:t>data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/>
              <a:t>consistency and reduced </a:t>
            </a:r>
            <a:r>
              <a:rPr lang="en-US" b="1" dirty="0" smtClean="0"/>
              <a:t>errors </a:t>
            </a:r>
            <a:r>
              <a:rPr lang="en-US" b="1" dirty="0"/>
              <a:t>across clinical features.</a:t>
            </a:r>
          </a:p>
          <a:p>
            <a:r>
              <a:rPr lang="en-US" b="1" dirty="0" smtClean="0"/>
              <a:t>The </a:t>
            </a:r>
            <a:r>
              <a:rPr lang="en-US" b="1" dirty="0"/>
              <a:t>significant reduction in missing values increases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the </a:t>
            </a:r>
            <a:r>
              <a:rPr lang="en-US" b="1" dirty="0"/>
              <a:t>robustness and trustworthiness of downstream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ML </a:t>
            </a:r>
            <a:r>
              <a:rPr lang="en-US" b="1" dirty="0"/>
              <a:t>algorithms.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MEGA-HEART </a:t>
            </a:r>
            <a:r>
              <a:rPr lang="en-US" b="1" dirty="0"/>
              <a:t>combines clinical, lifestyle, and diagnostic </a:t>
            </a:r>
            <a:r>
              <a:rPr lang="en-US" b="1" dirty="0" err="1" smtClean="0"/>
              <a:t>features,making</a:t>
            </a:r>
            <a:r>
              <a:rPr lang="en-US" b="1" dirty="0" smtClean="0"/>
              <a:t> </a:t>
            </a:r>
            <a:r>
              <a:rPr lang="en-US" b="1" dirty="0"/>
              <a:t>it more comprehensive than any single source </a:t>
            </a:r>
            <a:r>
              <a:rPr lang="en-US" b="1" dirty="0" smtClean="0"/>
              <a:t>dataset</a:t>
            </a:r>
            <a:r>
              <a:rPr lang="en-US" b="1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12-12-2025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ICMISC </a:t>
            </a:r>
            <a:r>
              <a:rPr lang="en-US" dirty="0" smtClean="0"/>
              <a:t>2025: </a:t>
            </a:r>
            <a:r>
              <a:rPr lang="en-US" dirty="0" err="1"/>
              <a:t>Vasavi</a:t>
            </a:r>
            <a:r>
              <a:rPr lang="en-US" dirty="0"/>
              <a:t> College of Engineering, Hyderabad, Telangana, India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534924"/>
            <a:ext cx="4640084" cy="24042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3590960"/>
            <a:ext cx="4640084" cy="253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7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08" y="-74168"/>
            <a:ext cx="10058400" cy="1609344"/>
          </a:xfrm>
        </p:spPr>
        <p:txBody>
          <a:bodyPr/>
          <a:lstStyle/>
          <a:p>
            <a:r>
              <a:rPr lang="en-IN" dirty="0"/>
              <a:t>Conclusion &amp;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88" y="1207008"/>
            <a:ext cx="11064240" cy="2867152"/>
          </a:xfrm>
        </p:spPr>
        <p:txBody>
          <a:bodyPr>
            <a:normAutofit/>
          </a:bodyPr>
          <a:lstStyle/>
          <a:p>
            <a:r>
              <a:rPr lang="en-US" b="1" dirty="0" smtClean="0"/>
              <a:t>MEGA-HEART </a:t>
            </a:r>
            <a:r>
              <a:rPr lang="en-US" b="1" dirty="0"/>
              <a:t>successfully integrates three heterogeneous heart-disease datasets into one unified resource with </a:t>
            </a:r>
            <a:r>
              <a:rPr lang="en-US" b="1" dirty="0">
                <a:solidFill>
                  <a:schemeClr val="accent2"/>
                </a:solidFill>
              </a:rPr>
              <a:t>71,220 records and 20 </a:t>
            </a:r>
            <a:r>
              <a:rPr lang="en-US" b="1" dirty="0" smtClean="0">
                <a:solidFill>
                  <a:schemeClr val="accent2"/>
                </a:solidFill>
              </a:rPr>
              <a:t>features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The framework resolves key issues such as </a:t>
            </a:r>
            <a:r>
              <a:rPr lang="en-US" b="1" dirty="0">
                <a:solidFill>
                  <a:schemeClr val="accent2"/>
                </a:solidFill>
              </a:rPr>
              <a:t>data fragmentation, duplicate records, schema mismatch</a:t>
            </a:r>
            <a:r>
              <a:rPr lang="en-US" b="1" dirty="0"/>
              <a:t>, and </a:t>
            </a:r>
            <a:r>
              <a:rPr lang="en-US" b="1" dirty="0">
                <a:solidFill>
                  <a:schemeClr val="accent2"/>
                </a:solidFill>
              </a:rPr>
              <a:t>missing </a:t>
            </a:r>
            <a:r>
              <a:rPr lang="en-US" b="1" dirty="0" smtClean="0">
                <a:solidFill>
                  <a:schemeClr val="accent2"/>
                </a:solidFill>
              </a:rPr>
              <a:t>values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The final dataset shows major quality improvements—higher completeness </a:t>
            </a:r>
            <a:r>
              <a:rPr lang="en-US" b="1" dirty="0">
                <a:solidFill>
                  <a:schemeClr val="accent2"/>
                </a:solidFill>
              </a:rPr>
              <a:t>(95.2%), consistency (94.8%), and standardization (98.5%).</a:t>
            </a:r>
          </a:p>
          <a:p>
            <a:r>
              <a:rPr lang="en-US" b="1" dirty="0" smtClean="0"/>
              <a:t>MEGA-HEART </a:t>
            </a:r>
            <a:r>
              <a:rPr lang="en-US" b="1" dirty="0"/>
              <a:t>provides a strong foundation for building more accurate and generalizable machine learning models for heart-disease </a:t>
            </a:r>
            <a:r>
              <a:rPr lang="en-US" b="1" dirty="0" smtClean="0"/>
              <a:t>prediction.</a:t>
            </a:r>
          </a:p>
          <a:p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12-12-2025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ICMISC </a:t>
            </a:r>
            <a:r>
              <a:rPr lang="en-US" dirty="0" smtClean="0"/>
              <a:t>2025: </a:t>
            </a:r>
            <a:r>
              <a:rPr lang="en-US" dirty="0" err="1"/>
              <a:t>Vasavi</a:t>
            </a:r>
            <a:r>
              <a:rPr lang="en-US" dirty="0"/>
              <a:t> College of Engineering, Hyderabad, Telangana, India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EA439-E2DB-41C7-BA0D-C4F8A1719797}" type="slidenum">
              <a:rPr lang="en-IN" smtClean="0"/>
              <a:t>6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29768" y="4165600"/>
            <a:ext cx="9994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⭐ ACKNOWLEDGEMENT </a:t>
            </a:r>
          </a:p>
          <a:p>
            <a:r>
              <a:rPr lang="en-US" b="1" dirty="0"/>
              <a:t>• I sincerely thank my guide, Dr. R. Praveen Kumar, for continuous support and guidance.</a:t>
            </a:r>
          </a:p>
          <a:p>
            <a:r>
              <a:rPr lang="en-US" b="1" dirty="0"/>
              <a:t>• I also thank Chaitanya Deemed to be University for providing research facilities.</a:t>
            </a:r>
          </a:p>
          <a:p>
            <a:r>
              <a:rPr lang="en-US" b="1" dirty="0"/>
              <a:t>• I express gratitude to ICCIC-2024 organizers for giving me the opportunity to present this work.</a:t>
            </a:r>
          </a:p>
        </p:txBody>
      </p:sp>
    </p:spTree>
    <p:extLst>
      <p:ext uri="{BB962C8B-B14F-4D97-AF65-F5344CB8AC3E}">
        <p14:creationId xmlns:p14="http://schemas.microsoft.com/office/powerpoint/2010/main" val="392216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154</TotalTime>
  <Words>565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Rockwell</vt:lpstr>
      <vt:lpstr>Rockwell Condensed</vt:lpstr>
      <vt:lpstr>Wingdings</vt:lpstr>
      <vt:lpstr>Wood Type</vt:lpstr>
      <vt:lpstr>5th International Conference on  Cognitive &amp; Intelligent Computing (ICCIC-2025) Dates:- 12-13 November 2025 Venue:- Vasavi College of Engineering, Hyderabad, India </vt:lpstr>
      <vt:lpstr>Introduction</vt:lpstr>
      <vt:lpstr>Methods</vt:lpstr>
      <vt:lpstr>Results</vt:lpstr>
      <vt:lpstr>Discussion</vt:lpstr>
      <vt:lpstr>Conclusion &amp; 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International Conference on  Cognitive &amp; Intelligent Computing (ICCIC-2024) Dates:- 29-30 November 2024 Venue:- Vasavi College of Engineering, Hyderabad, India</dc:title>
  <dc:creator>STUDENT</dc:creator>
  <cp:lastModifiedBy>Shaik.AbdulRazak</cp:lastModifiedBy>
  <cp:revision>22</cp:revision>
  <dcterms:created xsi:type="dcterms:W3CDTF">2024-11-16T05:28:56Z</dcterms:created>
  <dcterms:modified xsi:type="dcterms:W3CDTF">2025-12-12T09:05:30Z</dcterms:modified>
</cp:coreProperties>
</file>